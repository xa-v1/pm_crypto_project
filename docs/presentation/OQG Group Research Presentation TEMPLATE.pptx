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imes New Roman MT Bold" charset="1" panose="02030802070405020303"/>
      <p:regular r:id="rId22"/>
    </p:embeddedFont>
    <p:embeddedFont>
      <p:font typeface="Times New Roman MT" charset="1" panose="02030502070405020303"/>
      <p:regular r:id="rId23"/>
    </p:embeddedFont>
    <p:embeddedFont>
      <p:font typeface="Helvetica World Bold" charset="1" panose="020B080004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702889" y="-1720776"/>
            <a:ext cx="9461951" cy="13211026"/>
          </a:xfrm>
          <a:custGeom>
            <a:avLst/>
            <a:gdLst/>
            <a:ahLst/>
            <a:cxnLst/>
            <a:rect r="r" b="b" t="t" l="l"/>
            <a:pathLst>
              <a:path h="13211026" w="9461951">
                <a:moveTo>
                  <a:pt x="9461952" y="13211027"/>
                </a:moveTo>
                <a:lnTo>
                  <a:pt x="0" y="13211027"/>
                </a:lnTo>
                <a:lnTo>
                  <a:pt x="0" y="0"/>
                </a:lnTo>
                <a:lnTo>
                  <a:pt x="9461952" y="0"/>
                </a:lnTo>
                <a:lnTo>
                  <a:pt x="9461952" y="13211027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68024" y="-304146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81637" y="3548378"/>
            <a:ext cx="13324726" cy="3190244"/>
            <a:chOff x="0" y="0"/>
            <a:chExt cx="17766301" cy="425365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42900"/>
              <a:ext cx="17766301" cy="217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000" b="true">
                  <a:solidFill>
                    <a:srgbClr val="EFC9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Title of Presentation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52817"/>
              <a:ext cx="17766301" cy="250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3F3F3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Project Lead: </a:t>
              </a:r>
            </a:p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3F3F3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Quantitative Developers: </a:t>
              </a:r>
            </a:p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3F3F3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Quantitative Analysts: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2962" y="9045191"/>
            <a:ext cx="1981789" cy="57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5/27/26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Oregon Quant Group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~1.5 min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is the core research question, and why does it matter right now?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Give the audience enough macro/market context to care.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State the strategy area (e.g. equities, global macro, alt data)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Name the data source or signal type you are exploring.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310254" y="-4434220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9813626" y="13702045"/>
                </a:moveTo>
                <a:lnTo>
                  <a:pt x="0" y="13702045"/>
                </a:lnTo>
                <a:lnTo>
                  <a:pt x="0" y="0"/>
                </a:lnTo>
                <a:lnTo>
                  <a:pt x="9813626" y="0"/>
                </a:lnTo>
                <a:lnTo>
                  <a:pt x="9813626" y="13702045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6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515453" y="3812914"/>
            <a:ext cx="13688330" cy="1270084"/>
            <a:chOff x="0" y="0"/>
            <a:chExt cx="3605157" cy="3345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5157" cy="334508"/>
            </a:xfrm>
            <a:custGeom>
              <a:avLst/>
              <a:gdLst/>
              <a:ahLst/>
              <a:cxnLst/>
              <a:rect r="r" b="b" t="t" l="l"/>
              <a:pathLst>
                <a:path h="334508" w="3605157">
                  <a:moveTo>
                    <a:pt x="13574" y="0"/>
                  </a:moveTo>
                  <a:lnTo>
                    <a:pt x="3591583" y="0"/>
                  </a:lnTo>
                  <a:cubicBezTo>
                    <a:pt x="3599080" y="0"/>
                    <a:pt x="3605157" y="6077"/>
                    <a:pt x="3605157" y="13574"/>
                  </a:cubicBezTo>
                  <a:lnTo>
                    <a:pt x="3605157" y="320934"/>
                  </a:lnTo>
                  <a:cubicBezTo>
                    <a:pt x="3605157" y="328430"/>
                    <a:pt x="3599080" y="334508"/>
                    <a:pt x="3591583" y="334508"/>
                  </a:cubicBezTo>
                  <a:lnTo>
                    <a:pt x="13574" y="334508"/>
                  </a:lnTo>
                  <a:cubicBezTo>
                    <a:pt x="6077" y="334508"/>
                    <a:pt x="0" y="328430"/>
                    <a:pt x="0" y="320934"/>
                  </a:cubicBezTo>
                  <a:lnTo>
                    <a:pt x="0" y="13574"/>
                  </a:lnTo>
                  <a:cubicBezTo>
                    <a:pt x="0" y="6077"/>
                    <a:pt x="6077" y="0"/>
                    <a:pt x="13574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3605157" cy="401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496403" y="5475884"/>
            <a:ext cx="13707380" cy="1292284"/>
            <a:chOff x="0" y="0"/>
            <a:chExt cx="3610174" cy="3403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0174" cy="340355"/>
            </a:xfrm>
            <a:custGeom>
              <a:avLst/>
              <a:gdLst/>
              <a:ahLst/>
              <a:cxnLst/>
              <a:rect r="r" b="b" t="t" l="l"/>
              <a:pathLst>
                <a:path h="340355" w="3610174">
                  <a:moveTo>
                    <a:pt x="13555" y="0"/>
                  </a:moveTo>
                  <a:lnTo>
                    <a:pt x="3596619" y="0"/>
                  </a:lnTo>
                  <a:cubicBezTo>
                    <a:pt x="3600214" y="0"/>
                    <a:pt x="3603662" y="1428"/>
                    <a:pt x="3606204" y="3970"/>
                  </a:cubicBezTo>
                  <a:cubicBezTo>
                    <a:pt x="3608746" y="6512"/>
                    <a:pt x="3610174" y="9960"/>
                    <a:pt x="3610174" y="13555"/>
                  </a:cubicBezTo>
                  <a:lnTo>
                    <a:pt x="3610174" y="326800"/>
                  </a:lnTo>
                  <a:cubicBezTo>
                    <a:pt x="3610174" y="334286"/>
                    <a:pt x="3604105" y="340355"/>
                    <a:pt x="3596619" y="340355"/>
                  </a:cubicBezTo>
                  <a:lnTo>
                    <a:pt x="13555" y="340355"/>
                  </a:lnTo>
                  <a:cubicBezTo>
                    <a:pt x="6069" y="340355"/>
                    <a:pt x="0" y="334286"/>
                    <a:pt x="0" y="326800"/>
                  </a:cubicBezTo>
                  <a:lnTo>
                    <a:pt x="0" y="13555"/>
                  </a:lnTo>
                  <a:cubicBezTo>
                    <a:pt x="0" y="6069"/>
                    <a:pt x="6069" y="0"/>
                    <a:pt x="13555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610174" cy="40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96403" y="7072968"/>
            <a:ext cx="13762897" cy="1688126"/>
            <a:chOff x="0" y="0"/>
            <a:chExt cx="3624796" cy="4446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24796" cy="444609"/>
            </a:xfrm>
            <a:custGeom>
              <a:avLst/>
              <a:gdLst/>
              <a:ahLst/>
              <a:cxnLst/>
              <a:rect r="r" b="b" t="t" l="l"/>
              <a:pathLst>
                <a:path h="444609" w="3624796">
                  <a:moveTo>
                    <a:pt x="13501" y="0"/>
                  </a:moveTo>
                  <a:lnTo>
                    <a:pt x="3611295" y="0"/>
                  </a:lnTo>
                  <a:cubicBezTo>
                    <a:pt x="3618752" y="0"/>
                    <a:pt x="3624796" y="6044"/>
                    <a:pt x="3624796" y="13501"/>
                  </a:cubicBezTo>
                  <a:lnTo>
                    <a:pt x="3624796" y="431109"/>
                  </a:lnTo>
                  <a:cubicBezTo>
                    <a:pt x="3624796" y="438565"/>
                    <a:pt x="3618752" y="444609"/>
                    <a:pt x="3611295" y="444609"/>
                  </a:cubicBezTo>
                  <a:lnTo>
                    <a:pt x="13501" y="444609"/>
                  </a:lnTo>
                  <a:cubicBezTo>
                    <a:pt x="6044" y="444609"/>
                    <a:pt x="0" y="438565"/>
                    <a:pt x="0" y="431109"/>
                  </a:cubicBezTo>
                  <a:lnTo>
                    <a:pt x="0" y="13501"/>
                  </a:lnTo>
                  <a:cubicBezTo>
                    <a:pt x="0" y="6044"/>
                    <a:pt x="6044" y="0"/>
                    <a:pt x="13501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624796" cy="511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3496403" y="2127029"/>
            <a:ext cx="0" cy="1085811"/>
          </a:xfrm>
          <a:prstGeom prst="line">
            <a:avLst/>
          </a:prstGeom>
          <a:ln cap="flat" w="762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Introduction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99301" y="1978400"/>
            <a:ext cx="13552106" cy="129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 various methods of predictive modeling to generate alpha through analysis of fixed income markets 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1272" y="2198570"/>
            <a:ext cx="1714641" cy="100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20"/>
              </a:lnSpc>
              <a:spcBef>
                <a:spcPct val="0"/>
              </a:spcBef>
            </a:pPr>
            <a:r>
              <a:rPr lang="en-US" b="true" sz="5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43320" y="3873916"/>
            <a:ext cx="12279001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FRED</a:t>
            </a:r>
            <a:r>
              <a:rPr lang="en-US" sz="2799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(macroeconomic data) 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AGG, the gold standard for measuring the U.S. fixed income market 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1272" y="4010441"/>
            <a:ext cx="1714641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43320" y="5547987"/>
            <a:ext cx="12444710" cy="103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37" indent="-302269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Machine learning (ElasticNet regression) to predict volatility</a:t>
            </a: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 marL="604537" indent="-302269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 predicted volatility as investment signal (Buy/hold or sell)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3709" y="5684511"/>
            <a:ext cx="2762204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Process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3709" y="7359641"/>
            <a:ext cx="2762204" cy="72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Optimization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15453" y="7111068"/>
            <a:ext cx="13743847" cy="152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37" indent="-302269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</a:t>
            </a: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imized model hyperparameters (L1 &amp; L2) </a:t>
            </a:r>
          </a:p>
          <a:p>
            <a:pPr algn="l" marL="604537" indent="-302269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5-Fold Cross Validation</a:t>
            </a: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 marL="604537" indent="-302269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RMSE</a:t>
            </a: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optimized Final Signal deduced from strategy returns vs basic market returns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&amp; Signals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~1.5 min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data are you using and where does it come from?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Name sources (EDGAR, Yahoo Finance, FRED, etc.), time period, and unit of observation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Describe the signal(s): what are you measuring, how is it constructed, and what is the intuition for what it should predict returns?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0420222" y="-1664019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5"/>
                </a:moveTo>
                <a:lnTo>
                  <a:pt x="0" y="11445355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5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6438" y="1664019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216350"/>
            <a:ext cx="7536208" cy="2411587"/>
          </a:xfrm>
          <a:custGeom>
            <a:avLst/>
            <a:gdLst/>
            <a:ahLst/>
            <a:cxnLst/>
            <a:rect r="r" b="b" t="t" l="l"/>
            <a:pathLst>
              <a:path h="2411587" w="7536208">
                <a:moveTo>
                  <a:pt x="0" y="0"/>
                </a:moveTo>
                <a:lnTo>
                  <a:pt x="7536208" y="0"/>
                </a:lnTo>
                <a:lnTo>
                  <a:pt x="7536208" y="2411586"/>
                </a:lnTo>
                <a:lnTo>
                  <a:pt x="0" y="24115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3361" y="5432624"/>
            <a:ext cx="5820444" cy="3396699"/>
          </a:xfrm>
          <a:custGeom>
            <a:avLst/>
            <a:gdLst/>
            <a:ahLst/>
            <a:cxnLst/>
            <a:rect r="r" b="b" t="t" l="l"/>
            <a:pathLst>
              <a:path h="3396699" w="5820444">
                <a:moveTo>
                  <a:pt x="0" y="0"/>
                </a:moveTo>
                <a:lnTo>
                  <a:pt x="5820444" y="0"/>
                </a:lnTo>
                <a:lnTo>
                  <a:pt x="5820444" y="3396699"/>
                </a:lnTo>
                <a:lnTo>
                  <a:pt x="0" y="33966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4661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&amp; Signals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102175"/>
            <a:ext cx="7287520" cy="141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Macro Economic Predictors: Interest rate, Inflation rate, Unemployment, Economic Output, Market Liquidity, Commodities pricing.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361" y="2121100"/>
            <a:ext cx="790227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>
                <a:solidFill>
                  <a:srgbClr val="0F1A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FRED (Economic data)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3805" y="6265745"/>
            <a:ext cx="10781110" cy="232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Gold Standard for assessing the US Fixed Income market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Tracks roughly half the overall bond Market (~28 Trillion estimated asset value today) 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Index is diversified across the various types of assets in the U.S. fixed income market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06638" y="5356424"/>
            <a:ext cx="11410932" cy="85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b="true" sz="4699">
                <a:solidFill>
                  <a:srgbClr val="0F1A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Bloomberg Aggregate Index (AGG)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0F1A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903589" y="2405212"/>
            <a:ext cx="9908822" cy="6288645"/>
          </a:xfrm>
          <a:custGeom>
            <a:avLst/>
            <a:gdLst/>
            <a:ahLst/>
            <a:cxnLst/>
            <a:rect r="r" b="b" t="t" l="l"/>
            <a:pathLst>
              <a:path h="6288645" w="9908822">
                <a:moveTo>
                  <a:pt x="0" y="0"/>
                </a:moveTo>
                <a:lnTo>
                  <a:pt x="9908822" y="0"/>
                </a:lnTo>
                <a:lnTo>
                  <a:pt x="9908822" y="6288645"/>
                </a:lnTo>
                <a:lnTo>
                  <a:pt x="0" y="62886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508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Identifying Signals in the First 5 Minutes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13065" y="2799911"/>
            <a:ext cx="4518065" cy="4429206"/>
            <a:chOff x="0" y="0"/>
            <a:chExt cx="1189943" cy="1166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9943" cy="1166540"/>
            </a:xfrm>
            <a:custGeom>
              <a:avLst/>
              <a:gdLst/>
              <a:ahLst/>
              <a:cxnLst/>
              <a:rect r="r" b="b" t="t" l="l"/>
              <a:pathLst>
                <a:path h="1166540" w="1189943">
                  <a:moveTo>
                    <a:pt x="41125" y="0"/>
                  </a:moveTo>
                  <a:lnTo>
                    <a:pt x="1148818" y="0"/>
                  </a:lnTo>
                  <a:cubicBezTo>
                    <a:pt x="1171531" y="0"/>
                    <a:pt x="1189943" y="18412"/>
                    <a:pt x="1189943" y="41125"/>
                  </a:cubicBezTo>
                  <a:lnTo>
                    <a:pt x="1189943" y="1125415"/>
                  </a:lnTo>
                  <a:cubicBezTo>
                    <a:pt x="1189943" y="1148127"/>
                    <a:pt x="1171531" y="1166540"/>
                    <a:pt x="1148818" y="1166540"/>
                  </a:cubicBezTo>
                  <a:lnTo>
                    <a:pt x="41125" y="1166540"/>
                  </a:lnTo>
                  <a:cubicBezTo>
                    <a:pt x="18412" y="1166540"/>
                    <a:pt x="0" y="1148127"/>
                    <a:pt x="0" y="1125415"/>
                  </a:cubicBezTo>
                  <a:lnTo>
                    <a:pt x="0" y="41125"/>
                  </a:lnTo>
                  <a:cubicBezTo>
                    <a:pt x="0" y="18412"/>
                    <a:pt x="18412" y="0"/>
                    <a:pt x="41125" y="0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189943" cy="1233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325708" y="3102175"/>
            <a:ext cx="3786031" cy="377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934" indent="-288467" lvl="1">
              <a:lnSpc>
                <a:spcPts val="3741"/>
              </a:lnSpc>
              <a:buFont typeface="Arial"/>
              <a:buChar char="•"/>
            </a:pPr>
            <a:r>
              <a:rPr lang="en-US" sz="2672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~52.5% of contracts resolve UP</a:t>
            </a:r>
          </a:p>
          <a:p>
            <a:pPr algn="l" marL="576934" indent="-288467" lvl="1">
              <a:lnSpc>
                <a:spcPts val="3741"/>
              </a:lnSpc>
              <a:buFont typeface="Arial"/>
              <a:buChar char="•"/>
            </a:pPr>
            <a:r>
              <a:rPr lang="en-US" sz="2672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 on first 5 minutes, predict last minute prob</a:t>
            </a:r>
          </a:p>
          <a:p>
            <a:pPr algn="l" marL="576934" indent="-288467" lvl="1">
              <a:lnSpc>
                <a:spcPts val="3741"/>
              </a:lnSpc>
              <a:buFont typeface="Arial"/>
              <a:buChar char="•"/>
            </a:pPr>
            <a:r>
              <a:rPr lang="en-US" sz="2672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Goal: tell similar-looking early windows apart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78221" y="-1129395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0F1A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857681" y="2693845"/>
            <a:ext cx="11691757" cy="6564455"/>
          </a:xfrm>
          <a:custGeom>
            <a:avLst/>
            <a:gdLst/>
            <a:ahLst/>
            <a:cxnLst/>
            <a:rect r="r" b="b" t="t" l="l"/>
            <a:pathLst>
              <a:path h="6564455" w="11691757">
                <a:moveTo>
                  <a:pt x="0" y="0"/>
                </a:moveTo>
                <a:lnTo>
                  <a:pt x="11691758" y="0"/>
                </a:lnTo>
                <a:lnTo>
                  <a:pt x="11691758" y="6564455"/>
                </a:lnTo>
                <a:lnTo>
                  <a:pt x="0" y="6564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3765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 Engineering Mean and Momentum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7387" y="3575973"/>
            <a:ext cx="4688299" cy="4137376"/>
            <a:chOff x="0" y="0"/>
            <a:chExt cx="1234778" cy="10896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778" cy="1089679"/>
            </a:xfrm>
            <a:custGeom>
              <a:avLst/>
              <a:gdLst/>
              <a:ahLst/>
              <a:cxnLst/>
              <a:rect r="r" b="b" t="t" l="l"/>
              <a:pathLst>
                <a:path h="1089679" w="1234778">
                  <a:moveTo>
                    <a:pt x="39632" y="0"/>
                  </a:moveTo>
                  <a:lnTo>
                    <a:pt x="1195147" y="0"/>
                  </a:lnTo>
                  <a:cubicBezTo>
                    <a:pt x="1217035" y="0"/>
                    <a:pt x="1234778" y="17744"/>
                    <a:pt x="1234778" y="39632"/>
                  </a:cubicBezTo>
                  <a:lnTo>
                    <a:pt x="1234778" y="1050047"/>
                  </a:lnTo>
                  <a:cubicBezTo>
                    <a:pt x="1234778" y="1060558"/>
                    <a:pt x="1230603" y="1070639"/>
                    <a:pt x="1223170" y="1078071"/>
                  </a:cubicBezTo>
                  <a:cubicBezTo>
                    <a:pt x="1215738" y="1085504"/>
                    <a:pt x="1205658" y="1089679"/>
                    <a:pt x="1195147" y="1089679"/>
                  </a:cubicBezTo>
                  <a:lnTo>
                    <a:pt x="39632" y="1089679"/>
                  </a:lnTo>
                  <a:cubicBezTo>
                    <a:pt x="29121" y="1089679"/>
                    <a:pt x="19040" y="1085504"/>
                    <a:pt x="11608" y="1078071"/>
                  </a:cubicBezTo>
                  <a:cubicBezTo>
                    <a:pt x="4175" y="1070639"/>
                    <a:pt x="0" y="1060558"/>
                    <a:pt x="0" y="1050047"/>
                  </a:cubicBezTo>
                  <a:lnTo>
                    <a:pt x="0" y="39632"/>
                  </a:lnTo>
                  <a:cubicBezTo>
                    <a:pt x="0" y="17744"/>
                    <a:pt x="17744" y="0"/>
                    <a:pt x="39632" y="0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234778" cy="1156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7387" y="3769101"/>
            <a:ext cx="4518065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Mean smooths through noisy thin liquidity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Momentum captures direction the mean can't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Together: level + trajectory of sentiment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017212"/>
            <a:ext cx="16230600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~1.5 min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Walk through the analytical approach at a high level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type of model or framework are you using (e.g. machine learning, event study, regression)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Whyt this approach over alternatives?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Describe the pipeline: feature engineering, training/validation split, any backtesting or walk-forward structure.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simple flowchart or diagram works well here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Avoid heavy jargon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774392" y="1982187"/>
            <a:ext cx="12739216" cy="7726771"/>
          </a:xfrm>
          <a:custGeom>
            <a:avLst/>
            <a:gdLst/>
            <a:ahLst/>
            <a:cxnLst/>
            <a:rect r="r" b="b" t="t" l="l"/>
            <a:pathLst>
              <a:path h="7726771" w="12739216">
                <a:moveTo>
                  <a:pt x="0" y="0"/>
                </a:moveTo>
                <a:lnTo>
                  <a:pt x="12739216" y="0"/>
                </a:lnTo>
                <a:lnTo>
                  <a:pt x="12739216" y="7726771"/>
                </a:lnTo>
                <a:lnTo>
                  <a:pt x="0" y="77267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1458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 the Signals with Logistic Regression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2370" y="556162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7"/>
                </a:lnTo>
                <a:lnTo>
                  <a:pt x="0" y="10591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057287" y="1903240"/>
            <a:ext cx="7054453" cy="1451720"/>
          </a:xfrm>
          <a:custGeom>
            <a:avLst/>
            <a:gdLst/>
            <a:ahLst/>
            <a:cxnLst/>
            <a:rect r="r" b="b" t="t" l="l"/>
            <a:pathLst>
              <a:path h="1451720" w="7054453">
                <a:moveTo>
                  <a:pt x="0" y="0"/>
                </a:moveTo>
                <a:lnTo>
                  <a:pt x="7054452" y="0"/>
                </a:lnTo>
                <a:lnTo>
                  <a:pt x="7054452" y="1451720"/>
                </a:lnTo>
                <a:lnTo>
                  <a:pt x="0" y="1451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03242" y="4408743"/>
            <a:ext cx="7600045" cy="2276994"/>
            <a:chOff x="0" y="0"/>
            <a:chExt cx="2001658" cy="5997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01658" cy="599702"/>
            </a:xfrm>
            <a:custGeom>
              <a:avLst/>
              <a:gdLst/>
              <a:ahLst/>
              <a:cxnLst/>
              <a:rect r="r" b="b" t="t" l="l"/>
              <a:pathLst>
                <a:path h="599702" w="2001658">
                  <a:moveTo>
                    <a:pt x="24448" y="0"/>
                  </a:moveTo>
                  <a:lnTo>
                    <a:pt x="1977210" y="0"/>
                  </a:lnTo>
                  <a:cubicBezTo>
                    <a:pt x="1983694" y="0"/>
                    <a:pt x="1989912" y="2576"/>
                    <a:pt x="1994497" y="7161"/>
                  </a:cubicBezTo>
                  <a:cubicBezTo>
                    <a:pt x="1999082" y="11746"/>
                    <a:pt x="2001658" y="17964"/>
                    <a:pt x="2001658" y="24448"/>
                  </a:cubicBezTo>
                  <a:lnTo>
                    <a:pt x="2001658" y="575254"/>
                  </a:lnTo>
                  <a:cubicBezTo>
                    <a:pt x="2001658" y="581738"/>
                    <a:pt x="1999082" y="587957"/>
                    <a:pt x="1994497" y="592541"/>
                  </a:cubicBezTo>
                  <a:cubicBezTo>
                    <a:pt x="1989912" y="597126"/>
                    <a:pt x="1983694" y="599702"/>
                    <a:pt x="1977210" y="599702"/>
                  </a:cubicBezTo>
                  <a:lnTo>
                    <a:pt x="24448" y="599702"/>
                  </a:lnTo>
                  <a:cubicBezTo>
                    <a:pt x="17964" y="599702"/>
                    <a:pt x="11746" y="597126"/>
                    <a:pt x="7161" y="592541"/>
                  </a:cubicBezTo>
                  <a:cubicBezTo>
                    <a:pt x="2576" y="587957"/>
                    <a:pt x="0" y="581738"/>
                    <a:pt x="0" y="575254"/>
                  </a:cubicBezTo>
                  <a:lnTo>
                    <a:pt x="0" y="24448"/>
                  </a:lnTo>
                  <a:cubicBezTo>
                    <a:pt x="0" y="17964"/>
                    <a:pt x="2576" y="11746"/>
                    <a:pt x="7161" y="7161"/>
                  </a:cubicBezTo>
                  <a:cubicBezTo>
                    <a:pt x="11746" y="2576"/>
                    <a:pt x="17964" y="0"/>
                    <a:pt x="24448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001658" cy="666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45744" y="7483951"/>
            <a:ext cx="7775987" cy="2334336"/>
            <a:chOff x="0" y="0"/>
            <a:chExt cx="2047997" cy="6148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7997" cy="614805"/>
            </a:xfrm>
            <a:custGeom>
              <a:avLst/>
              <a:gdLst/>
              <a:ahLst/>
              <a:cxnLst/>
              <a:rect r="r" b="b" t="t" l="l"/>
              <a:pathLst>
                <a:path h="614805" w="2047997">
                  <a:moveTo>
                    <a:pt x="23895" y="0"/>
                  </a:moveTo>
                  <a:lnTo>
                    <a:pt x="2024102" y="0"/>
                  </a:lnTo>
                  <a:cubicBezTo>
                    <a:pt x="2030439" y="0"/>
                    <a:pt x="2036517" y="2517"/>
                    <a:pt x="2040998" y="6999"/>
                  </a:cubicBezTo>
                  <a:cubicBezTo>
                    <a:pt x="2045479" y="11480"/>
                    <a:pt x="2047997" y="17558"/>
                    <a:pt x="2047997" y="23895"/>
                  </a:cubicBezTo>
                  <a:lnTo>
                    <a:pt x="2047997" y="590910"/>
                  </a:lnTo>
                  <a:cubicBezTo>
                    <a:pt x="2047997" y="597247"/>
                    <a:pt x="2045479" y="603325"/>
                    <a:pt x="2040998" y="607806"/>
                  </a:cubicBezTo>
                  <a:cubicBezTo>
                    <a:pt x="2036517" y="612287"/>
                    <a:pt x="2030439" y="614805"/>
                    <a:pt x="2024102" y="614805"/>
                  </a:cubicBezTo>
                  <a:lnTo>
                    <a:pt x="23895" y="614805"/>
                  </a:lnTo>
                  <a:cubicBezTo>
                    <a:pt x="10698" y="614805"/>
                    <a:pt x="0" y="604107"/>
                    <a:pt x="0" y="590910"/>
                  </a:cubicBezTo>
                  <a:lnTo>
                    <a:pt x="0" y="23895"/>
                  </a:lnTo>
                  <a:cubicBezTo>
                    <a:pt x="0" y="17558"/>
                    <a:pt x="2517" y="11480"/>
                    <a:pt x="6999" y="6999"/>
                  </a:cubicBezTo>
                  <a:cubicBezTo>
                    <a:pt x="11480" y="2517"/>
                    <a:pt x="17558" y="0"/>
                    <a:pt x="23895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47997" cy="681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909712" y="3485648"/>
            <a:ext cx="4187646" cy="6356958"/>
          </a:xfrm>
          <a:custGeom>
            <a:avLst/>
            <a:gdLst/>
            <a:ahLst/>
            <a:cxnLst/>
            <a:rect r="r" b="b" t="t" l="l"/>
            <a:pathLst>
              <a:path h="6356958" w="4187646">
                <a:moveTo>
                  <a:pt x="0" y="0"/>
                </a:moveTo>
                <a:lnTo>
                  <a:pt x="4187646" y="0"/>
                </a:lnTo>
                <a:lnTo>
                  <a:pt x="418764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361" y="2121100"/>
            <a:ext cx="790227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true">
                <a:solidFill>
                  <a:srgbClr val="0F1A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ElasticNet Regularization: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361" y="3507360"/>
            <a:ext cx="5346221" cy="68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F1A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Volatility Prediction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3361" y="4424959"/>
            <a:ext cx="7575821" cy="194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48" indent="-291474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Predicts volatility for the AGG using time-series data and training data from FRED</a:t>
            </a:r>
          </a:p>
          <a:p>
            <a:pPr algn="l" marL="582948" indent="-291474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ElasticNet Regularization to optimize volatility projections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60406" y="6652086"/>
            <a:ext cx="5346221" cy="68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F1A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Investment Strategy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5744" y="7538266"/>
            <a:ext cx="7368283" cy="202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37" indent="-302269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Select a volatility threshold from predicted values </a:t>
            </a:r>
          </a:p>
          <a:p>
            <a:pPr algn="l" marL="604537" indent="-302269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Signal investment if predicted value for that period is above threshold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0341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0109" y="-2011522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9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9" y="0"/>
                </a:lnTo>
                <a:lnTo>
                  <a:pt x="8197349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057287" y="1903240"/>
            <a:ext cx="7054453" cy="1451720"/>
          </a:xfrm>
          <a:custGeom>
            <a:avLst/>
            <a:gdLst/>
            <a:ahLst/>
            <a:cxnLst/>
            <a:rect r="r" b="b" t="t" l="l"/>
            <a:pathLst>
              <a:path h="1451720" w="7054453">
                <a:moveTo>
                  <a:pt x="0" y="0"/>
                </a:moveTo>
                <a:lnTo>
                  <a:pt x="7054452" y="0"/>
                </a:lnTo>
                <a:lnTo>
                  <a:pt x="7054452" y="1451720"/>
                </a:lnTo>
                <a:lnTo>
                  <a:pt x="0" y="1451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03242" y="4408743"/>
            <a:ext cx="7600045" cy="2276994"/>
            <a:chOff x="0" y="0"/>
            <a:chExt cx="2001658" cy="5997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01658" cy="599702"/>
            </a:xfrm>
            <a:custGeom>
              <a:avLst/>
              <a:gdLst/>
              <a:ahLst/>
              <a:cxnLst/>
              <a:rect r="r" b="b" t="t" l="l"/>
              <a:pathLst>
                <a:path h="599702" w="2001658">
                  <a:moveTo>
                    <a:pt x="24448" y="0"/>
                  </a:moveTo>
                  <a:lnTo>
                    <a:pt x="1977210" y="0"/>
                  </a:lnTo>
                  <a:cubicBezTo>
                    <a:pt x="1983694" y="0"/>
                    <a:pt x="1989912" y="2576"/>
                    <a:pt x="1994497" y="7161"/>
                  </a:cubicBezTo>
                  <a:cubicBezTo>
                    <a:pt x="1999082" y="11746"/>
                    <a:pt x="2001658" y="17964"/>
                    <a:pt x="2001658" y="24448"/>
                  </a:cubicBezTo>
                  <a:lnTo>
                    <a:pt x="2001658" y="575254"/>
                  </a:lnTo>
                  <a:cubicBezTo>
                    <a:pt x="2001658" y="581738"/>
                    <a:pt x="1999082" y="587957"/>
                    <a:pt x="1994497" y="592541"/>
                  </a:cubicBezTo>
                  <a:cubicBezTo>
                    <a:pt x="1989912" y="597126"/>
                    <a:pt x="1983694" y="599702"/>
                    <a:pt x="1977210" y="599702"/>
                  </a:cubicBezTo>
                  <a:lnTo>
                    <a:pt x="24448" y="599702"/>
                  </a:lnTo>
                  <a:cubicBezTo>
                    <a:pt x="17964" y="599702"/>
                    <a:pt x="11746" y="597126"/>
                    <a:pt x="7161" y="592541"/>
                  </a:cubicBezTo>
                  <a:cubicBezTo>
                    <a:pt x="2576" y="587957"/>
                    <a:pt x="0" y="581738"/>
                    <a:pt x="0" y="575254"/>
                  </a:cubicBezTo>
                  <a:lnTo>
                    <a:pt x="0" y="24448"/>
                  </a:lnTo>
                  <a:cubicBezTo>
                    <a:pt x="0" y="17964"/>
                    <a:pt x="2576" y="11746"/>
                    <a:pt x="7161" y="7161"/>
                  </a:cubicBezTo>
                  <a:cubicBezTo>
                    <a:pt x="11746" y="2576"/>
                    <a:pt x="17964" y="0"/>
                    <a:pt x="24448" y="0"/>
                  </a:cubicBezTo>
                  <a:close/>
                </a:path>
              </a:pathLst>
            </a:custGeom>
            <a:solidFill>
              <a:srgbClr val="0F1A3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01658" cy="666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508270"/>
            <a:ext cx="8146496" cy="2334336"/>
            <a:chOff x="0" y="0"/>
            <a:chExt cx="2145579" cy="614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579" cy="614805"/>
            </a:xfrm>
            <a:custGeom>
              <a:avLst/>
              <a:gdLst/>
              <a:ahLst/>
              <a:cxnLst/>
              <a:rect r="r" b="b" t="t" l="l"/>
              <a:pathLst>
                <a:path h="614805" w="2145579">
                  <a:moveTo>
                    <a:pt x="22808" y="0"/>
                  </a:moveTo>
                  <a:lnTo>
                    <a:pt x="2122771" y="0"/>
                  </a:lnTo>
                  <a:cubicBezTo>
                    <a:pt x="2135368" y="0"/>
                    <a:pt x="2145579" y="10212"/>
                    <a:pt x="2145579" y="22808"/>
                  </a:cubicBezTo>
                  <a:lnTo>
                    <a:pt x="2145579" y="591997"/>
                  </a:lnTo>
                  <a:cubicBezTo>
                    <a:pt x="2145579" y="598046"/>
                    <a:pt x="2143176" y="603847"/>
                    <a:pt x="2138899" y="608124"/>
                  </a:cubicBezTo>
                  <a:cubicBezTo>
                    <a:pt x="2134622" y="612402"/>
                    <a:pt x="2128820" y="614805"/>
                    <a:pt x="2122771" y="614805"/>
                  </a:cubicBezTo>
                  <a:lnTo>
                    <a:pt x="22808" y="614805"/>
                  </a:lnTo>
                  <a:cubicBezTo>
                    <a:pt x="10212" y="614805"/>
                    <a:pt x="0" y="604593"/>
                    <a:pt x="0" y="591997"/>
                  </a:cubicBezTo>
                  <a:lnTo>
                    <a:pt x="0" y="22808"/>
                  </a:lnTo>
                  <a:cubicBezTo>
                    <a:pt x="0" y="10212"/>
                    <a:pt x="10212" y="0"/>
                    <a:pt x="22808" y="0"/>
                  </a:cubicBezTo>
                  <a:close/>
                </a:path>
              </a:pathLst>
            </a:custGeom>
            <a:solidFill>
              <a:srgbClr val="0F1A3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145579" cy="681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909712" y="3485648"/>
            <a:ext cx="4187646" cy="6356958"/>
          </a:xfrm>
          <a:custGeom>
            <a:avLst/>
            <a:gdLst/>
            <a:ahLst/>
            <a:cxnLst/>
            <a:rect r="r" b="b" t="t" l="l"/>
            <a:pathLst>
              <a:path h="6356958" w="4187646">
                <a:moveTo>
                  <a:pt x="0" y="0"/>
                </a:moveTo>
                <a:lnTo>
                  <a:pt x="4187646" y="0"/>
                </a:lnTo>
                <a:lnTo>
                  <a:pt x="418764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0F1A3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3361" y="2121100"/>
            <a:ext cx="790227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true">
                <a:solidFill>
                  <a:srgbClr val="0F1A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ElasticNet Regularization: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361" y="3507360"/>
            <a:ext cx="5346221" cy="68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F1A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Volatility Prediction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3361" y="4424959"/>
            <a:ext cx="7575821" cy="194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48" indent="-291474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Predicts volatility for the AGG using time-series data and training data from FRED</a:t>
            </a:r>
          </a:p>
          <a:p>
            <a:pPr algn="l" marL="582948" indent="-291474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ElasticNet Regularization to optimize volatility projections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3361" y="6676405"/>
            <a:ext cx="5346221" cy="68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F1A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Investment Strategy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514960"/>
            <a:ext cx="8146496" cy="209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27" indent="-313063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Select a volatility threshold from predicted values </a:t>
            </a:r>
          </a:p>
          <a:p>
            <a:pPr algn="l" marL="626127" indent="-313063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Signal investment if predicted value for that period is above threshold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~2 min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Show your most key finding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Include at least two charts or tables with titles, labelled axes, and a one sentence caption explaining the key takeaway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Anchor every claim to a specific number: not “the signal performed well” but “annualized Sharpe of 1.3 vs. 0.6 for the benchmark.”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If your results are preliminary or mixed, say so clearly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22721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Strategy &amp; Position Logic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~1 min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Translate the signal into actual trades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When do you enter? When do you exit? How are positions sized?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is the rebalancing frequency?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If you have a regime filter or resk overlay, describe it in plain language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goal is for the audience to understand what a live version of this strategy would actually do on a given day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Backtesting &amp; Evaluation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~1.5 min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Report performance metrics: annualized return, Sharpe ratio, max drawdown, hit rate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Compare against a relevant benchmark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If you ran out-of-sample or walk-forward tests, show how in-sample vs. out-of-sample results compare.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Flag any look-ahead bias or data leakage risks you identified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Mention transaction cost assumptions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 direct about where the model underperformmed and why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Limitations &amp; Next Steps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~1 min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are the biggest constraints on this analysis?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Think data availability, sample period, model assumptions, overfitting risk, execution feasibility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would you do differently with more time or resources? Name one or two concrete steps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38681" y="-2328105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Q&amp;A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 citations, names, and emails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DAHIM4as9c0</dc:identifier>
  <dcterms:modified xsi:type="dcterms:W3CDTF">2011-08-01T06:04:30Z</dcterms:modified>
  <cp:revision>1</cp:revision>
  <dc:title>OQG Group Research Presentation TEMPLATE</dc:title>
</cp:coreProperties>
</file>