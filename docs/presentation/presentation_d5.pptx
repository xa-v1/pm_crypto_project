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Times New Roman MT Bold" charset="1" panose="02030802070405020303"/>
      <p:regular r:id="rId21"/>
    </p:embeddedFont>
    <p:embeddedFont>
      <p:font typeface="Times New Roman MT Bold Italics" charset="1" panose="02030802070405090303"/>
      <p:regular r:id="rId22"/>
    </p:embeddedFont>
    <p:embeddedFont>
      <p:font typeface="Times New Roman MT" charset="1" panose="02030502070405020303"/>
      <p:regular r:id="rId23"/>
    </p:embeddedFont>
    <p:embeddedFont>
      <p:font typeface="Times New Roman MT Italics" charset="1" panose="02030502070405090303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Master" Target="notesMasters/notesMaster1.xml"/><Relationship Id="rId25" Type="http://schemas.openxmlformats.org/officeDocument/2006/relationships/theme" Target="theme/theme2.xml"/><Relationship Id="rId26" Type="http://schemas.openxmlformats.org/officeDocument/2006/relationships/notesSlide" Target="notesSlides/notesSlide1.xml"/><Relationship Id="rId27" Type="http://schemas.openxmlformats.org/officeDocument/2006/relationships/notesSlide" Target="notesSlides/notesSlide2.xml"/><Relationship Id="rId28" Type="http://schemas.openxmlformats.org/officeDocument/2006/relationships/notesSlide" Target="notesSlides/notesSlide3.xml"/><Relationship Id="rId29" Type="http://schemas.openxmlformats.org/officeDocument/2006/relationships/font" Target="fonts/font29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binary contract pays $1 if the event happens and $0 if it doesn't. The contract's current trading price is therefore the market's implied probability of that outcome. A contract trading at $0.62 means the market collectively estimates a 62% chance the event resolves YES.</a:t>
            </a:r>
          </a:p>
          <a:p>
            <a:r>
              <a:rPr lang="en-US"/>
              <a:t>Participants buy and sell these contracts with real capital. Traders who price events accurately profit; those who don't lose money. Prices update continuously as new information arrives and as traders react.</a:t>
            </a:r>
          </a:p>
          <a:p>
            <a:r>
              <a:rPr lang="en-US"/>
              <a:t/>
            </a:r>
          </a:p>
          <a:p>
            <a:r>
              <a:rPr lang="en-US"/>
              <a:t>A contract trading at $0.62 means the market estimates a 62% chance that the event resolves to YES.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Dataset:</a:t>
            </a:r>
          </a:p>
          <a:p>
            <a:r>
              <a:rPr lang="en-US"/>
              <a:t>Sourced from Kalshi’s Trade API </a:t>
            </a:r>
          </a:p>
          <a:p>
            <a:r>
              <a:rPr lang="en-US"/>
              <a:t>Collected over a six-week opportunistic window</a:t>
            </a:r>
          </a:p>
          <a:p>
            <a:r>
              <a:rPr lang="en-US"/>
              <a:t>Covers ~2,200 BTC contracts </a:t>
            </a:r>
          </a:p>
          <a:p>
            <a:r>
              <a:rPr lang="en-US"/>
              <a:t>Drop contracts with &lt;15 observations, unresolved, or zero-volume</a:t>
            </a:r>
          </a:p>
          <a:p>
            <a:r>
              <a:rPr lang="en-US"/>
              <a:t/>
            </a:r>
          </a:p>
          <a:p>
            <a:r>
              <a:rPr lang="en-US"/>
              <a:t>Fields logged per minute</a:t>
            </a:r>
          </a:p>
          <a:p>
            <a:r>
              <a:rPr lang="en-US"/>
              <a:t>P(UP), P(DOWN)</a:t>
            </a:r>
          </a:p>
          <a:p>
            <a:r>
              <a:rPr lang="en-US"/>
              <a:t>Momentum - ΔP(UP) from prior minute</a:t>
            </a:r>
          </a:p>
          <a:p>
            <a:r>
              <a:rPr lang="en-US"/>
              <a:t>Majority prediction</a:t>
            </a:r>
          </a:p>
          <a:p>
            <a:r>
              <a:rPr lang="en-US"/>
              <a:t>Market ticker &amp; timestamp</a:t>
            </a:r>
          </a:p>
          <a:p>
            <a:r>
              <a:rPr lang="en-US"/>
              <a:t>Final outcome and volume (post-resolution)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We looked at some other options for spot price data, such as binance, but coinbase ultimately provided the most consistent data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image" Target="../media/image3.png"/><Relationship Id="rId9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3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4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hyperlink" Target="https://www.nber.org/papers/t0344" TargetMode="External"/><Relationship Id="rId11" Type="http://schemas.openxmlformats.org/officeDocument/2006/relationships/image" Target="../media/image22.png"/><Relationship Id="rId12" Type="http://schemas.openxmlformats.org/officeDocument/2006/relationships/image" Target="../media/image25.png"/><Relationship Id="rId13" Type="http://schemas.openxmlformats.org/officeDocument/2006/relationships/image" Target="../media/image28.png"/><Relationship Id="rId14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hyperlink" Target="https://www.researchgate.net/publication/5071735_Stock_Market_Prices_Do_Not_Follow_Random_Walks_Evidence_from_a_Simple_Specification_Test" TargetMode="External"/><Relationship Id="rId11" Type="http://schemas.openxmlformats.org/officeDocument/2006/relationships/image" Target="../media/image23.png"/><Relationship Id="rId12" Type="http://schemas.openxmlformats.org/officeDocument/2006/relationships/image" Target="../media/image26.png"/><Relationship Id="rId13" Type="http://schemas.openxmlformats.org/officeDocument/2006/relationships/image" Target="../media/image30.png"/><Relationship Id="rId14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image" Target="../media/image20.png"/><Relationship Id="rId9" Type="http://schemas.openxmlformats.org/officeDocument/2006/relationships/hyperlink" Target="https://www-jstor-org.uoregon.idm.oclc.org/stable/2531595?origin=crossref&amp;site=jstor&amp;seq=1" TargetMode="External"/><Relationship Id="rId10" Type="http://schemas.openxmlformats.org/officeDocument/2006/relationships/image" Target="../media/image21.png"/><Relationship Id="rId11" Type="http://schemas.openxmlformats.org/officeDocument/2006/relationships/image" Target="../media/image24.png"/><Relationship Id="rId12" Type="http://schemas.openxmlformats.org/officeDocument/2006/relationships/image" Target="../media/image27.png"/><Relationship Id="rId13" Type="http://schemas.openxmlformats.org/officeDocument/2006/relationships/image" Target="../media/image29.png"/><Relationship Id="rId14" Type="http://schemas.openxmlformats.org/officeDocument/2006/relationships/image" Target="../media/image3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Relationship Id="rId8" Type="http://schemas.openxmlformats.org/officeDocument/2006/relationships/hyperlink" Target="https://pubs.aeaweb.org/doi/pdfplus/10.1257/0895330041371321" TargetMode="External"/><Relationship Id="rId9" Type="http://schemas.openxmlformats.org/officeDocument/2006/relationships/hyperlink" Target="https://www.nber.org/papers/t0344" TargetMode="External"/><Relationship Id="rId10" Type="http://schemas.openxmlformats.org/officeDocument/2006/relationships/hyperlink" Target="https://www.researchgate.net/publication/5071735_Stock_Market_Prices_Do_Not_Follow_Random_Walks_Evidence_from_a_Simple_Specification_Test" TargetMode="External"/><Relationship Id="rId11" Type="http://schemas.openxmlformats.org/officeDocument/2006/relationships/hyperlink" Target="https://www-jstor-org.uoregon.idm.oclc.org/stable/2531595?origin=crossref&amp;site=jstor&amp;seq=1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svg"/><Relationship Id="rId7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true" rot="0">
            <a:off x="11702889" y="-1720776"/>
            <a:ext cx="9461951" cy="13211026"/>
          </a:xfrm>
          <a:custGeom>
            <a:avLst/>
            <a:gdLst/>
            <a:ahLst/>
            <a:cxnLst/>
            <a:rect r="r" b="b" t="t" l="l"/>
            <a:pathLst>
              <a:path h="13211026" w="9461951">
                <a:moveTo>
                  <a:pt x="9461952" y="13211027"/>
                </a:moveTo>
                <a:lnTo>
                  <a:pt x="0" y="13211027"/>
                </a:lnTo>
                <a:lnTo>
                  <a:pt x="0" y="0"/>
                </a:lnTo>
                <a:lnTo>
                  <a:pt x="9461952" y="0"/>
                </a:lnTo>
                <a:lnTo>
                  <a:pt x="9461952" y="13211027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368024" y="-304146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303249" y="1585275"/>
            <a:ext cx="13681501" cy="7116449"/>
            <a:chOff x="0" y="0"/>
            <a:chExt cx="18242001" cy="9488599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342900"/>
              <a:ext cx="18242001" cy="823214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599"/>
                </a:lnSpc>
              </a:pPr>
              <a:r>
                <a:rPr lang="en-US" sz="9000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Prediction Markets Probabilties as a Quant Data Source</a:t>
              </a:r>
            </a:p>
            <a:p>
              <a:pPr algn="ctr">
                <a:lnSpc>
                  <a:spcPts val="5039"/>
                </a:lnSpc>
              </a:pPr>
              <a:r>
                <a:rPr lang="en-US" b="true" sz="3599" i="true">
                  <a:solidFill>
                    <a:srgbClr val="FFFFFF"/>
                  </a:solidFill>
                  <a:latin typeface="Times New Roman MT Bold Italics"/>
                  <a:ea typeface="Times New Roman MT Bold Italics"/>
                  <a:cs typeface="Times New Roman MT Bold Italics"/>
                  <a:sym typeface="Times New Roman MT Bold Italics"/>
                </a:rPr>
                <a:t>Characterizing Kalshi 15-minute BTC Contracts</a:t>
              </a:r>
            </a:p>
            <a:p>
              <a:pPr algn="ctr">
                <a:lnSpc>
                  <a:spcPts val="5039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7813257"/>
              <a:ext cx="18242001" cy="16753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Project Lead: Xavier Vortigern</a:t>
              </a:r>
            </a:p>
            <a:p>
              <a:pPr algn="ctr">
                <a:lnSpc>
                  <a:spcPts val="4900"/>
                </a:lnSpc>
              </a:pPr>
              <a:r>
                <a:rPr lang="en-US" sz="3500">
                  <a:solidFill>
                    <a:srgbClr val="F3F3F3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Quantitative Developer: Zoe Tomlinson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42962" y="9045191"/>
            <a:ext cx="1981789" cy="578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39"/>
              </a:lnSpc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5/27/26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Oregon Quant Group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1842438" y="-1049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9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9" y="0"/>
                </a:lnTo>
                <a:lnTo>
                  <a:pt x="8197349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423681" y="2119157"/>
            <a:ext cx="1743088" cy="1408579"/>
          </a:xfrm>
          <a:custGeom>
            <a:avLst/>
            <a:gdLst/>
            <a:ahLst/>
            <a:cxnLst/>
            <a:rect r="r" b="b" t="t" l="l"/>
            <a:pathLst>
              <a:path h="1408579" w="1743088">
                <a:moveTo>
                  <a:pt x="0" y="0"/>
                </a:moveTo>
                <a:lnTo>
                  <a:pt x="1743088" y="0"/>
                </a:lnTo>
                <a:lnTo>
                  <a:pt x="1743088" y="1408579"/>
                </a:lnTo>
                <a:lnTo>
                  <a:pt x="0" y="140857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471" t="-13158" r="0" b="-1241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076569" y="2119157"/>
            <a:ext cx="3472869" cy="1320101"/>
          </a:xfrm>
          <a:custGeom>
            <a:avLst/>
            <a:gdLst/>
            <a:ahLst/>
            <a:cxnLst/>
            <a:rect r="r" b="b" t="t" l="l"/>
            <a:pathLst>
              <a:path h="1320101" w="3472869">
                <a:moveTo>
                  <a:pt x="0" y="0"/>
                </a:moveTo>
                <a:lnTo>
                  <a:pt x="3472870" y="0"/>
                </a:lnTo>
                <a:lnTo>
                  <a:pt x="3472870" y="1320101"/>
                </a:lnTo>
                <a:lnTo>
                  <a:pt x="0" y="13201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7527" t="-21724" r="-8354" b="-23668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026736" y="4003986"/>
            <a:ext cx="6522703" cy="4139623"/>
          </a:xfrm>
          <a:custGeom>
            <a:avLst/>
            <a:gdLst/>
            <a:ahLst/>
            <a:cxnLst/>
            <a:rect r="r" b="b" t="t" l="l"/>
            <a:pathLst>
              <a:path h="4139623" w="6522703">
                <a:moveTo>
                  <a:pt x="0" y="0"/>
                </a:moveTo>
                <a:lnTo>
                  <a:pt x="6522703" y="0"/>
                </a:lnTo>
                <a:lnTo>
                  <a:pt x="6522703" y="4139623"/>
                </a:lnTo>
                <a:lnTo>
                  <a:pt x="0" y="413962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What are Prediction Markets?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852363"/>
            <a:ext cx="10394981" cy="2284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Ma</a:t>
            </a:r>
            <a:r>
              <a:rPr lang="en-US" b="true" sz="42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rketplaces where participants trade contracts on the outcome of future events, aggregating beliefs into prices.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498340"/>
            <a:ext cx="9410175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Binary Contracts, trading price reflects implied probability.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43361" y="6026785"/>
            <a:ext cx="10558382" cy="172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Contracts spanning politics, weather, economics, sports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Recession this year?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Will 2026 be the hottest year ever?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712073"/>
            <a:ext cx="16520739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"Wisdom of the Crowd" — aggregati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 works best when participants are independent, diverse, and bear the cost of error (Surowiecki, 2004)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Theoretical Foundation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1919984"/>
            <a:ext cx="16520739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Predicti</a:t>
            </a:r>
            <a:r>
              <a:rPr lang="en-US" b="true" sz="31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on markets aggregate dispersed private information into a price. With real capital at risk, traders are incentivized toward true probabilities. (Wolfers &amp; Zitzewitz, 2004)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58175" y="3496055"/>
            <a:ext cx="6942548" cy="4913446"/>
            <a:chOff x="0" y="0"/>
            <a:chExt cx="1828490" cy="129407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828490" cy="1294076"/>
            </a:xfrm>
            <a:custGeom>
              <a:avLst/>
              <a:gdLst/>
              <a:ahLst/>
              <a:cxnLst/>
              <a:rect r="r" b="b" t="t" l="l"/>
              <a:pathLst>
                <a:path h="1294076" w="1828490">
                  <a:moveTo>
                    <a:pt x="18957" y="0"/>
                  </a:moveTo>
                  <a:lnTo>
                    <a:pt x="1809533" y="0"/>
                  </a:lnTo>
                  <a:cubicBezTo>
                    <a:pt x="1814560" y="0"/>
                    <a:pt x="1819382" y="1997"/>
                    <a:pt x="1822937" y="5552"/>
                  </a:cubicBezTo>
                  <a:cubicBezTo>
                    <a:pt x="1826493" y="9108"/>
                    <a:pt x="1828490" y="13930"/>
                    <a:pt x="1828490" y="18957"/>
                  </a:cubicBezTo>
                  <a:lnTo>
                    <a:pt x="1828490" y="1275119"/>
                  </a:lnTo>
                  <a:cubicBezTo>
                    <a:pt x="1828490" y="1285589"/>
                    <a:pt x="1820002" y="1294076"/>
                    <a:pt x="1809533" y="1294076"/>
                  </a:cubicBezTo>
                  <a:lnTo>
                    <a:pt x="18957" y="1294076"/>
                  </a:lnTo>
                  <a:cubicBezTo>
                    <a:pt x="8488" y="1294076"/>
                    <a:pt x="0" y="1285589"/>
                    <a:pt x="0" y="1275119"/>
                  </a:cubicBezTo>
                  <a:lnTo>
                    <a:pt x="0" y="18957"/>
                  </a:lnTo>
                  <a:cubicBezTo>
                    <a:pt x="0" y="8488"/>
                    <a:pt x="8488" y="0"/>
                    <a:pt x="18957" y="0"/>
                  </a:cubicBezTo>
                  <a:close/>
                </a:path>
              </a:pathLst>
            </a:custGeom>
            <a:solidFill>
              <a:srgbClr val="0F1A3C"/>
            </a:solidFill>
            <a:ln w="38100" cap="sq">
              <a:solidFill>
                <a:srgbClr val="EFC93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828490" cy="1360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36365" y="3639613"/>
            <a:ext cx="6586167" cy="449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Agarwal et al. (2025)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292M trades, 327K contracts across Kalshi and Polymarket; calibration varies by market category.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it matters: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Crypto contracts need to be characterized as a distinct category. 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056479" y="3505580"/>
            <a:ext cx="6934904" cy="4913446"/>
            <a:chOff x="0" y="0"/>
            <a:chExt cx="1826477" cy="129407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826477" cy="1294076"/>
            </a:xfrm>
            <a:custGeom>
              <a:avLst/>
              <a:gdLst/>
              <a:ahLst/>
              <a:cxnLst/>
              <a:rect r="r" b="b" t="t" l="l"/>
              <a:pathLst>
                <a:path h="1294076" w="1826477">
                  <a:moveTo>
                    <a:pt x="18978" y="0"/>
                  </a:moveTo>
                  <a:lnTo>
                    <a:pt x="1807498" y="0"/>
                  </a:lnTo>
                  <a:cubicBezTo>
                    <a:pt x="1817980" y="0"/>
                    <a:pt x="1826477" y="8497"/>
                    <a:pt x="1826477" y="18978"/>
                  </a:cubicBezTo>
                  <a:lnTo>
                    <a:pt x="1826477" y="1275098"/>
                  </a:lnTo>
                  <a:cubicBezTo>
                    <a:pt x="1826477" y="1285580"/>
                    <a:pt x="1817980" y="1294076"/>
                    <a:pt x="1807498" y="1294076"/>
                  </a:cubicBezTo>
                  <a:lnTo>
                    <a:pt x="18978" y="1294076"/>
                  </a:lnTo>
                  <a:cubicBezTo>
                    <a:pt x="8497" y="1294076"/>
                    <a:pt x="0" y="1285580"/>
                    <a:pt x="0" y="1275098"/>
                  </a:cubicBezTo>
                  <a:lnTo>
                    <a:pt x="0" y="18978"/>
                  </a:lnTo>
                  <a:cubicBezTo>
                    <a:pt x="0" y="8497"/>
                    <a:pt x="8497" y="0"/>
                    <a:pt x="18978" y="0"/>
                  </a:cubicBezTo>
                  <a:close/>
                </a:path>
              </a:pathLst>
            </a:custGeom>
            <a:solidFill>
              <a:srgbClr val="0F1A3C"/>
            </a:solidFill>
            <a:ln w="38100" cap="sq">
              <a:solidFill>
                <a:srgbClr val="EFC93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1826477" cy="13607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319454" y="3639613"/>
            <a:ext cx="6671930" cy="5025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Moh</a:t>
            </a:r>
            <a:r>
              <a:rPr lang="en-US" b="true" sz="33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anty &amp; Krishnamachari (2026)</a:t>
            </a:r>
          </a:p>
          <a:p>
            <a:pPr algn="l">
              <a:lnSpc>
                <a:spcPts val="168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Daily Kalshi macro contract probabilities forecast crypto realized volatility.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b="true" sz="3200" spc="192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Why it matters:</a:t>
            </a:r>
          </a:p>
          <a:p>
            <a:pPr algn="l">
              <a:lnSpc>
                <a:spcPts val="1679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This study examines each contract's own price as a signal, looking at direction rather than volatility.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3836736" y="8295201"/>
            <a:ext cx="10904667" cy="1728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Gap: 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No prior work characterizes short-horizon crypto event contracts as a standalone data source at intraday resolution.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8843840" y="4892959"/>
            <a:ext cx="8705599" cy="4276626"/>
          </a:xfrm>
          <a:custGeom>
            <a:avLst/>
            <a:gdLst/>
            <a:ahLst/>
            <a:cxnLst/>
            <a:rect r="r" b="b" t="t" l="l"/>
            <a:pathLst>
              <a:path h="4276626" w="8705599">
                <a:moveTo>
                  <a:pt x="0" y="0"/>
                </a:moveTo>
                <a:lnTo>
                  <a:pt x="8705599" y="0"/>
                </a:lnTo>
                <a:lnTo>
                  <a:pt x="8705599" y="4276625"/>
                </a:lnTo>
                <a:lnTo>
                  <a:pt x="0" y="427662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892494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 &amp; Signals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43361" y="1810644"/>
            <a:ext cx="7508453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Kalshi 15-min BTC Contracts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67575" y="1810644"/>
            <a:ext cx="6614835" cy="91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  <a:spcBef>
                <a:spcPct val="0"/>
              </a:spcBef>
            </a:pPr>
            <a:r>
              <a:rPr lang="en-US" b="true" sz="48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Per-Contract Observation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361" y="2612649"/>
            <a:ext cx="7910662" cy="1529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Binary contracts on whether BTC will end above or below a given spot price over the following 15-minute window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67575" y="2612649"/>
            <a:ext cx="8059627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20"/>
              </a:lnSpc>
              <a:spcBef>
                <a:spcPct val="0"/>
              </a:spcBef>
            </a:pPr>
            <a:r>
              <a:rPr lang="en-US" b="true" sz="28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At 10 second intervals, compute the midpoint of best bid and ask price. These are averaged into 1-minute buckets, yielding a 15-point time series of P(UP) per contract.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28700" y="4892959"/>
            <a:ext cx="7679987" cy="4276626"/>
            <a:chOff x="0" y="0"/>
            <a:chExt cx="2022712" cy="112635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22713" cy="1126354"/>
            </a:xfrm>
            <a:custGeom>
              <a:avLst/>
              <a:gdLst/>
              <a:ahLst/>
              <a:cxnLst/>
              <a:rect r="r" b="b" t="t" l="l"/>
              <a:pathLst>
                <a:path h="1126354" w="2022713">
                  <a:moveTo>
                    <a:pt x="17137" y="0"/>
                  </a:moveTo>
                  <a:lnTo>
                    <a:pt x="2005575" y="0"/>
                  </a:lnTo>
                  <a:cubicBezTo>
                    <a:pt x="2010121" y="0"/>
                    <a:pt x="2014479" y="1806"/>
                    <a:pt x="2017693" y="5019"/>
                  </a:cubicBezTo>
                  <a:cubicBezTo>
                    <a:pt x="2020907" y="8233"/>
                    <a:pt x="2022713" y="12592"/>
                    <a:pt x="2022713" y="17137"/>
                  </a:cubicBezTo>
                  <a:lnTo>
                    <a:pt x="2022713" y="1109217"/>
                  </a:lnTo>
                  <a:cubicBezTo>
                    <a:pt x="2022713" y="1118682"/>
                    <a:pt x="2015040" y="1126354"/>
                    <a:pt x="2005575" y="1126354"/>
                  </a:cubicBezTo>
                  <a:lnTo>
                    <a:pt x="17137" y="1126354"/>
                  </a:lnTo>
                  <a:cubicBezTo>
                    <a:pt x="7673" y="1126354"/>
                    <a:pt x="0" y="1118682"/>
                    <a:pt x="0" y="1109217"/>
                  </a:cubicBezTo>
                  <a:lnTo>
                    <a:pt x="0" y="17137"/>
                  </a:lnTo>
                  <a:cubicBezTo>
                    <a:pt x="0" y="12592"/>
                    <a:pt x="1806" y="8233"/>
                    <a:pt x="5019" y="5019"/>
                  </a:cubicBezTo>
                  <a:cubicBezTo>
                    <a:pt x="8233" y="1806"/>
                    <a:pt x="12592" y="0"/>
                    <a:pt x="17137" y="0"/>
                  </a:cubicBezTo>
                  <a:close/>
                </a:path>
              </a:pathLst>
            </a:custGeom>
            <a:solidFill>
              <a:srgbClr val="0F1A3C"/>
            </a:solidFill>
            <a:ln w="38100" cap="sq">
              <a:solidFill>
                <a:srgbClr val="EFC930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2022712" cy="119302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187267" y="4981174"/>
            <a:ext cx="7766757" cy="3976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true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Dataset: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</a:t>
            </a: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ourced from Kalshi’s Trade API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Collected over a six-week opportunistic window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Covers ~2,200 BTC contracts </a:t>
            </a: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b="true" sz="32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Drop contracts with &lt;15 observations, unresolved, or zero-volume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13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5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6121368" y="2540869"/>
            <a:ext cx="11428070" cy="6361518"/>
          </a:xfrm>
          <a:custGeom>
            <a:avLst/>
            <a:gdLst/>
            <a:ahLst/>
            <a:cxnLst/>
            <a:rect r="r" b="b" t="t" l="l"/>
            <a:pathLst>
              <a:path h="6361518" w="11428070">
                <a:moveTo>
                  <a:pt x="0" y="0"/>
                </a:moveTo>
                <a:lnTo>
                  <a:pt x="11428071" y="0"/>
                </a:lnTo>
                <a:lnTo>
                  <a:pt x="11428071" y="6361518"/>
                </a:lnTo>
                <a:lnTo>
                  <a:pt x="0" y="636151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Spot Price Data Sourced from Coinbase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09138"/>
            <a:ext cx="4944611" cy="6663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Coinbase API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Coinbase BTC 1-minute candles, 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Public Exchange API 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60-second granularity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Window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15 Feb - 28 Mar 2026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58,948 bars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Joined to Kalshi by UTC minute timestamp</a:t>
            </a:r>
          </a:p>
          <a:p>
            <a:pPr algn="l" marL="1295400" indent="-431800" lvl="2">
              <a:lnSpc>
                <a:spcPts val="4200"/>
              </a:lnSpc>
              <a:buFont typeface="Arial"/>
              <a:buChar char="⚬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31,658 joined minute-level observations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78221" y="-128285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Probability Convergence Within Contracts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98219" y="3373810"/>
            <a:ext cx="5477175" cy="5662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Majority prediction accuracy starts at roughly 50/50 and rises monotonically to ~95% by minute 14</a:t>
            </a:r>
          </a:p>
          <a:p>
            <a:pPr algn="l">
              <a:lnSpc>
                <a:spcPts val="4480"/>
              </a:lnSpc>
            </a:pPr>
          </a:p>
          <a:p>
            <a:pPr algn="l" marL="690881" indent="-345440" lvl="1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As the contract nears expiry, BTC price has largely determined its final direction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4809" y="2425265"/>
            <a:ext cx="5551066" cy="781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b="true" sz="4100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How the Market Resolves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852363" y="2188580"/>
            <a:ext cx="10792552" cy="5301841"/>
          </a:xfrm>
          <a:custGeom>
            <a:avLst/>
            <a:gdLst/>
            <a:ahLst/>
            <a:cxnLst/>
            <a:rect r="r" b="b" t="t" l="l"/>
            <a:pathLst>
              <a:path h="5301841" w="10792552">
                <a:moveTo>
                  <a:pt x="0" y="0"/>
                </a:moveTo>
                <a:lnTo>
                  <a:pt x="10792552" y="0"/>
                </a:lnTo>
                <a:lnTo>
                  <a:pt x="10792552" y="5301841"/>
                </a:lnTo>
                <a:lnTo>
                  <a:pt x="0" y="530184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505875" y="7976196"/>
            <a:ext cx="8115300" cy="152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9" indent="-345439" lvl="1">
              <a:lnSpc>
                <a:spcPts val="383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Any predictive signal m</a:t>
            </a:r>
            <a:r>
              <a:rPr lang="en-US" sz="31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ust be drawn from early-window data, otherwise we conflate convergence with information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602480" y="1823029"/>
            <a:ext cx="15083039" cy="6243319"/>
          </a:xfrm>
          <a:custGeom>
            <a:avLst/>
            <a:gdLst/>
            <a:ahLst/>
            <a:cxnLst/>
            <a:rect r="r" b="b" t="t" l="l"/>
            <a:pathLst>
              <a:path h="6243319" w="15083039">
                <a:moveTo>
                  <a:pt x="0" y="0"/>
                </a:moveTo>
                <a:lnTo>
                  <a:pt x="15083040" y="0"/>
                </a:lnTo>
                <a:lnTo>
                  <a:pt x="15083040" y="6243320"/>
                </a:lnTo>
                <a:lnTo>
                  <a:pt x="0" y="624332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b="true" sz="600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Intraday Variability in Realized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0371" y="8133024"/>
            <a:ext cx="6051009" cy="1085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7" indent="-323848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Implied acc</a:t>
            </a:r>
            <a:r>
              <a:rPr lang="en-US" sz="2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uracy is roughly flat at 55–56% across all hours.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217937" y="8133024"/>
            <a:ext cx="7949290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698" indent="-323849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Realized accuracy varies substantially — eight hours show an overconfidence gap exceeding 5 percentage points (red bars)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394431" y="2062934"/>
            <a:ext cx="15499139" cy="5909047"/>
          </a:xfrm>
          <a:custGeom>
            <a:avLst/>
            <a:gdLst/>
            <a:ahLst/>
            <a:cxnLst/>
            <a:rect r="r" b="b" t="t" l="l"/>
            <a:pathLst>
              <a:path h="5909047" w="15499139">
                <a:moveTo>
                  <a:pt x="0" y="0"/>
                </a:moveTo>
                <a:lnTo>
                  <a:pt x="15499138" y="0"/>
                </a:lnTo>
                <a:lnTo>
                  <a:pt x="15499138" y="5909046"/>
                </a:lnTo>
                <a:lnTo>
                  <a:pt x="0" y="590904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Intraday Variability in Realized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724227" y="8007802"/>
            <a:ext cx="8839545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EFC93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Conviction at Open Matters:</a:t>
            </a:r>
            <a:r>
              <a:rPr lang="en-US" sz="27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Within any minute, accuracy increases with opening conviction. Contracts opening at P(UP) ≥ 0.75 are 100% accurate from minute 0, near 50% contracts only cross 60% by minute 2.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57912" y="-2245791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819230" y="-70956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4007960"/>
            <a:ext cx="16230600" cy="5700998"/>
          </a:xfrm>
          <a:custGeom>
            <a:avLst/>
            <a:gdLst/>
            <a:ahLst/>
            <a:cxnLst/>
            <a:rect r="r" b="b" t="t" l="l"/>
            <a:pathLst>
              <a:path h="5700998" w="16230600">
                <a:moveTo>
                  <a:pt x="0" y="0"/>
                </a:moveTo>
                <a:lnTo>
                  <a:pt x="16230600" y="0"/>
                </a:lnTo>
                <a:lnTo>
                  <a:pt x="16230600" y="5700998"/>
                </a:lnTo>
                <a:lnTo>
                  <a:pt x="0" y="570099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5706723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Testing the Signal Against the Underlying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2302074"/>
            <a:ext cx="16230600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sz="4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</a:t>
            </a:r>
            <a:r>
              <a:rPr lang="en-US" sz="44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oes Kalshi P(UP) carry directional information beyond what is already in BTC spot?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234183" y="-2009116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1819230" y="-70956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5"/>
                </a:moveTo>
                <a:lnTo>
                  <a:pt x="0" y="11445355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5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1043361" y="1000125"/>
            <a:ext cx="1704268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Identifying Lag with Pearson Cross-Correlation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346098" y="2159948"/>
            <a:ext cx="8913202" cy="6867247"/>
            <a:chOff x="0" y="0"/>
            <a:chExt cx="11884269" cy="915632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974582" y="2561903"/>
              <a:ext cx="9935105" cy="6594426"/>
            </a:xfrm>
            <a:custGeom>
              <a:avLst/>
              <a:gdLst/>
              <a:ahLst/>
              <a:cxnLst/>
              <a:rect r="r" b="b" t="t" l="l"/>
              <a:pathLst>
                <a:path h="6594426" w="9935105">
                  <a:moveTo>
                    <a:pt x="0" y="0"/>
                  </a:moveTo>
                  <a:lnTo>
                    <a:pt x="9935105" y="0"/>
                  </a:lnTo>
                  <a:lnTo>
                    <a:pt x="9935105" y="6594426"/>
                  </a:lnTo>
                  <a:lnTo>
                    <a:pt x="0" y="65944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0" y="-152400"/>
              <a:ext cx="11884269" cy="23960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599"/>
                </a:lnSpc>
              </a:pPr>
              <a:r>
                <a:rPr lang="en-US" sz="3999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Spot leads Kalshi P(UP) by Two Minutes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Peak at lag k = −2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Every Kalshi-leading lag (k ≥ 0) is zero or negative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672630" y="7900549"/>
            <a:ext cx="460546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for k ∈ [−10, +10] minutes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0530" y="2789181"/>
            <a:ext cx="5809669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sz="3000">
                <a:solidFill>
                  <a:srgbClr val="FFFFFF"/>
                </a:solidFill>
                <a:latin typeface="Times New Roman MT"/>
              </a:rPr>
              <a:t>Pearson correlation at minute lag k</a:t>
            </a:r>
          </a:p>
          <a:p>
            <a:pPr algn="l">
              <a:lnSpc>
                <a:spcPts val="4200"/>
              </a:lnSpc>
            </a:pPr>
            <a:r>
              <a:rPr sz="3000">
                <a:solidFill>
                  <a:srgbClr val="FFFFFF"/>
                </a:solidFill>
                <a:latin typeface="Times New Roman MT"/>
              </a:rPr>
              <a:t>Positive k:  Kalshi leads spot</a:t>
            </a:r>
          </a:p>
          <a:p>
            <a:pPr algn="l">
              <a:lnSpc>
                <a:spcPts val="4200"/>
              </a:lnSpc>
            </a:pPr>
            <a:r>
              <a:rPr sz="3000">
                <a:solidFill>
                  <a:srgbClr val="FFFFFF"/>
                </a:solidFill>
                <a:latin typeface="Times New Roman MT"/>
              </a:rPr>
              <a:t>Negative k:  spot leads Kalshi</a:t>
            </a:r>
          </a:p>
          <a:p>
            <a:pPr algn="l">
              <a:lnSpc>
                <a:spcPts val="4200"/>
              </a:lnSpc>
            </a:pPr>
            <a:r>
              <a:rPr sz="3000">
                <a:solidFill>
                  <a:srgbClr val="FFFFFF"/>
                </a:solidFill>
                <a:latin typeface="Times New Roman MT"/>
              </a:rPr>
              <a:t>Cluster bootstrap CIs over 2,264 contracts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661333"/>
            <a:ext cx="1531723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Cameron, Gelbach &amp; Miller (2008). Bootstrap-based improvements for inference with clustered errors. </a:t>
            </a:r>
            <a:r>
              <a:rPr lang="en-US" sz="2000" u="sng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0" tooltip="https://www.nber.org/papers/t0344"/>
              </a:rPr>
              <a:t>doi.org/10.1162/rest.90.3.414</a:t>
            </a:r>
            <a:r>
              <a:rPr lang="en-US" sz="2000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28700" y="2007548"/>
            <a:ext cx="4836393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Correlation with Lag 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6273527"/>
            <a:ext cx="1915567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Equation</a:t>
            </a:r>
          </a:p>
        </p:txBody>
      </p:sp>
      <p:pic>
        <p:nvPicPr>
          <p:cNvPr id="19" name="Picture 18" descr="lead_lag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2804" y="6321451"/>
            <a:ext cx="8492710" cy="206229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3003515" y="-1707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6" y="0"/>
                </a:lnTo>
                <a:lnTo>
                  <a:pt x="9813626" y="13702044"/>
                </a:lnTo>
                <a:lnTo>
                  <a:pt x="0" y="1370204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2762001"/>
            <a:ext cx="6033450" cy="3781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Variance is linear w.r.t. time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VR &gt; 1: under-reaction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VR &lt; 1: mean reversion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Hurst H: one-number summary of the log VR(q) vs log q slope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 = 0.5 is the null</a:t>
            </a:r>
          </a:p>
          <a:p>
            <a:pPr algn="l">
              <a:lnSpc>
                <a:spcPts val="4200"/>
              </a:lnSpc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7297923" y="2182025"/>
            <a:ext cx="9862261" cy="6894222"/>
            <a:chOff x="0" y="0"/>
            <a:chExt cx="13149682" cy="9192296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3780908"/>
              <a:ext cx="13149682" cy="5411388"/>
              <a:chOff x="0" y="0"/>
              <a:chExt cx="17068800" cy="7024192"/>
            </a:xfrm>
          </p:grpSpPr>
          <p:sp>
            <p:nvSpPr>
              <p:cNvPr name="Freeform 12" id="12" descr="image.png"/>
              <p:cNvSpPr/>
              <p:nvPr/>
            </p:nvSpPr>
            <p:spPr>
              <a:xfrm flipH="false" flipV="false" rot="0">
                <a:off x="0" y="0"/>
                <a:ext cx="17068800" cy="7024243"/>
              </a:xfrm>
              <a:custGeom>
                <a:avLst/>
                <a:gdLst/>
                <a:ahLst/>
                <a:cxnLst/>
                <a:rect r="r" b="b" t="t" l="l"/>
                <a:pathLst>
                  <a:path h="7024243" w="17068800">
                    <a:moveTo>
                      <a:pt x="0" y="0"/>
                    </a:moveTo>
                    <a:lnTo>
                      <a:pt x="17068800" y="0"/>
                    </a:lnTo>
                    <a:lnTo>
                      <a:pt x="17068800" y="7024243"/>
                    </a:lnTo>
                    <a:lnTo>
                      <a:pt x="0" y="702424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/>
                <a:stretch>
                  <a:fillRect l="-62" t="0" r="-62" b="0"/>
                </a:stretch>
              </a:blip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294815" y="814576"/>
              <a:ext cx="12560052" cy="286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Spot passes the null</a:t>
              </a:r>
            </a:p>
            <a:p>
              <a:pPr algn="l" marL="1295400" indent="-431800" lvl="2">
                <a:lnSpc>
                  <a:spcPts val="42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VR(q) within 1% of 1.00 and H = 0.498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P(UP) fails the null</a:t>
              </a:r>
            </a:p>
            <a:p>
              <a:pPr algn="l" marL="1295400" indent="-431800" lvl="2">
                <a:lnSpc>
                  <a:spcPts val="4200"/>
                </a:lnSpc>
                <a:buFont typeface="Arial"/>
                <a:buChar char="⚬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VR(2) = 1.24, VR(10) = 1.41 and H = 0.537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94815" y="-76200"/>
              <a:ext cx="12560052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P(UP) Deviates from the Martingale Null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43361" y="1000125"/>
            <a:ext cx="1650607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Variance Ratio (VR) Test for Efficient Pricing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43361" y="8348872"/>
            <a:ext cx="5321252" cy="51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05"/>
              </a:lnSpc>
            </a:pPr>
            <a:r>
              <a:rPr lang="en-US" sz="292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equals</a:t>
            </a:r>
            <a:r>
              <a:rPr lang="en-US" sz="2920" i="true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1 under the martingale null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105825"/>
            <a:ext cx="4567105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</a:t>
            </a: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andom-Walk Null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3361" y="6291327"/>
            <a:ext cx="1915567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b="true" sz="3999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Equation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28700" y="9361997"/>
            <a:ext cx="15722305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Lo, A. W., and MacKinlay, A. C. (1988). Stock market prices do not follow random walks: Evidence from a simple specification test. Review of Financial Studies, 1(1), 41–66. </a:t>
            </a:r>
            <a:r>
              <a:rPr lang="en-US" sz="2000" u="sng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0" tooltip="https://www.researchgate.net/publication/5071735_Stock_Market_Prices_Do_Not_Follow_Random_Walks_Evidence_from_a_Simple_Specification_Test"/>
              </a:rPr>
              <a:t>DOI: 10.1093/rfs/1.1.41</a:t>
            </a:r>
          </a:p>
        </p:txBody>
      </p:sp>
      <p:pic>
        <p:nvPicPr>
          <p:cNvPr id="21" name="Picture 20" descr="variance_ratio_panel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2456" y="6496072"/>
            <a:ext cx="6610858" cy="21412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32390" y="-2279094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6" y="0"/>
                </a:lnTo>
                <a:lnTo>
                  <a:pt x="9813626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6506077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Linear Classification on Out-of-Sample Contracts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751801"/>
            <a:ext cx="5787778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Spot-only: 8 features (returns, vol, volume)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Kalshi-only: 9 features from the Kalshi panel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Combined: union, 17 features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80654" y="6418055"/>
            <a:ext cx="6500583" cy="2714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5-fold time-series CV</a:t>
            </a: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on 1,595 OOS contracts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DeLong paired non-parametric test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Bootstrap 95% CIs on out-of-sample AUC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361" y="2092525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Feature Sets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43361" y="5760830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Logistic Regression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995774" y="2168725"/>
            <a:ext cx="10421568" cy="6330784"/>
            <a:chOff x="0" y="0"/>
            <a:chExt cx="13895424" cy="844104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260078" y="4499183"/>
              <a:ext cx="12635346" cy="3941863"/>
            </a:xfrm>
            <a:custGeom>
              <a:avLst/>
              <a:gdLst/>
              <a:ahLst/>
              <a:cxnLst/>
              <a:rect r="r" b="b" t="t" l="l"/>
              <a:pathLst>
                <a:path h="3941863" w="12635346">
                  <a:moveTo>
                    <a:pt x="0" y="0"/>
                  </a:moveTo>
                  <a:lnTo>
                    <a:pt x="12635346" y="0"/>
                  </a:lnTo>
                  <a:lnTo>
                    <a:pt x="12635346" y="3941863"/>
                  </a:lnTo>
                  <a:lnTo>
                    <a:pt x="0" y="3941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1941" t="-65054" r="-1941" b="-6387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0" y="818710"/>
              <a:ext cx="13895424" cy="28670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Spot-only AUC = 0.796 [0.78, 0.82] on 1,595 OOS contracts (73% accuracy)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PM-only AUC = 0.693; Combined AUC = 0.760</a:t>
              </a:r>
            </a:p>
            <a:p>
              <a:pPr algn="l" marL="647700" indent="-323850" lvl="1">
                <a:lnSpc>
                  <a:spcPts val="4200"/>
                </a:lnSpc>
                <a:buFont typeface="Arial"/>
                <a:buChar char="•"/>
              </a:pPr>
              <a:r>
                <a:rPr lang="en-US" sz="3000">
                  <a:solidFill>
                    <a:srgbClr val="FFFFFF"/>
                  </a:solidFill>
                  <a:latin typeface="Times New Roman MT"/>
                  <a:ea typeface="Times New Roman MT"/>
                  <a:cs typeface="Times New Roman MT"/>
                  <a:sym typeface="Times New Roman MT"/>
                </a:rPr>
                <a:t>Adding PM degrades a spot-only model (DeLong p &lt; 0.001)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26720" y="-76200"/>
              <a:ext cx="13868704" cy="8763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99"/>
                </a:lnSpc>
              </a:pPr>
              <a:r>
                <a:rPr lang="en-US" sz="3999" b="true">
                  <a:solidFill>
                    <a:srgbClr val="EFC930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Kalshi Features Add No Content Above Spot</a:t>
              </a: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1028700" y="9356533"/>
            <a:ext cx="16175083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DeLong, E. R., DeLong, D. M., and Clarke-Pearson, D. L. (1988). Comparing the areas under two or more correlated receiver operating characteristic curves: A nonparametric approach. Biometrics, 44(3), 837–845. </a:t>
            </a:r>
            <a:r>
              <a:rPr lang="en-US" sz="2000" u="sng">
                <a:solidFill>
                  <a:srgbClr val="C4CB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9" tooltip="https://www-jstor-org.uoregon.idm.oclc.org/stable/2531595?origin=crossref&amp;site=jstor&amp;seq=1"/>
              </a:rPr>
              <a:t>DOI: 10.2307/2531595</a:t>
            </a:r>
          </a:p>
        </p:txBody>
      </p:sp>
      <p:pic>
        <p:nvPicPr>
          <p:cNvPr id="19" name="Picture 18" descr="incremental_informatio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858000" y="5029200"/>
            <a:ext cx="73152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Limitations &amp; Next Steps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92525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Identification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652913" y="2092525"/>
            <a:ext cx="530352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Inference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3361" y="5645428"/>
            <a:ext cx="3579170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Generalizability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67575" y="5645428"/>
            <a:ext cx="250888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b="true">
                <a:solidFill>
                  <a:srgbClr val="EFC93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Next Steps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3361" y="2906133"/>
            <a:ext cx="8100639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oinbase candle aggregation, scraper averaging, and substantive reaction confound the 2-min lag (bounded ≥ 1 min); tick-level spot would tighten the bound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667575" y="2906133"/>
            <a:ext cx="7881864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</a:t>
            </a: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luster bootstrap by contract may understate dependence across overlapping contracts; calendar-time block bootstrap would be more conservative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6455053"/>
            <a:ext cx="8115300" cy="2181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Six-week sample is one regime; the 2-min lag and the 0.10 AUC gap should not be treated as structural until they replicate during stress events (CPI releases, BTC-specific news shocks).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652913" y="6512203"/>
            <a:ext cx="7896525" cy="1895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1.  Price-discovery decomposition — Hasbrouck (1995) information share in a VECM of Kalshi-implied price and spot.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2.  Second-moment forecasting — conviction spread |P(UP) − 0.5| vs HAR-RV and GARCH for realized volatility.</a:t>
            </a:r>
          </a:p>
          <a:p>
            <a:pPr algn="l" marL="647705" indent="-323852" lvl="1">
              <a:lnSpc>
                <a:spcPts val="3600"/>
              </a:lnSpc>
              <a:buFont typeface="Arial"/>
              <a:buChar char="•"/>
            </a:pPr>
            <a:r>
              <a:rPr sz="3000">
                <a:solidFill>
                  <a:srgbClr val="FFFFFF"/>
                </a:solidFill>
                <a:latin typeface="Times New Roman MT"/>
              </a:rPr>
              <a:t>3.  Stress-event replication — rerun the three diagnostics during high-vol windows (CPI releases, BTC news shocks) to test whether the lag and the null incremental result hold under stress.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632246" y="-2011522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91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Wolfers, J., and Zitzewitz, E.</a:t>
            </a: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(2004). Prediction markets. Journal of Economic Perspectives, 18(2), 107–126.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8" tooltip="https://pubs.aeaweb.org/doi/pdfplus/10.1257/0895330041371321"/>
              </a:rPr>
              <a:t>10.1257/0895330041371321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Cameron, A. C., Gelbach, J. B., and Miller, D. L. (2008). Bootstrap-based improvements for inference with clustered errors. Review of Economics and Statistics, 90(3), 414–427.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9" tooltip="https://www.nber.org/papers/t0344"/>
              </a:rPr>
              <a:t>10.1162/rest.90.3.414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Lo, A. W., and MacKinlay, A. C. (1988). Stock market prices do not follow random walks: Evidence from a simple specification test. Review of Financial Studies, 1(1), 41–66.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0" tooltip="https://www.researchgate.net/publication/5071735_Stock_Market_Prices_Do_Not_Follow_Random_Walks_Evidence_from_a_Simple_Specification_Test"/>
              </a:rPr>
              <a:t>10.1093/rfs/1.1.41</a:t>
            </a:r>
          </a:p>
          <a:p>
            <a:pPr algn="l" marL="647700" indent="-323850" lvl="1">
              <a:lnSpc>
                <a:spcPts val="4200"/>
              </a:lnSpc>
              <a:buAutoNum type="arabicPeriod" startAt="1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DeLong, E. R., DeLong, D. M., and Clarke-Pearson, D. L. (1988). Comparing the areas under two or more correlated receiver operating characteristic curves: A nonparametric approach. Biometrics, 44(3), 837–845. DOI: </a:t>
            </a:r>
            <a:r>
              <a:rPr lang="en-US" sz="3000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  <a:hlinkClick r:id="rId11" tooltip="https://www-jstor-org.uoregon.idm.oclc.org/stable/2531595?origin=crossref&amp;site=jstor&amp;seq=1"/>
              </a:rPr>
              <a:t>10.2307/2531595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1A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338681" y="-2328105"/>
            <a:ext cx="9813627" cy="13702045"/>
          </a:xfrm>
          <a:custGeom>
            <a:avLst/>
            <a:gdLst/>
            <a:ahLst/>
            <a:cxnLst/>
            <a:rect r="r" b="b" t="t" l="l"/>
            <a:pathLst>
              <a:path h="13702045" w="9813627">
                <a:moveTo>
                  <a:pt x="0" y="0"/>
                </a:moveTo>
                <a:lnTo>
                  <a:pt x="9813627" y="0"/>
                </a:lnTo>
                <a:lnTo>
                  <a:pt x="9813627" y="13702045"/>
                </a:lnTo>
                <a:lnTo>
                  <a:pt x="0" y="137020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7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464183" y="3206950"/>
            <a:ext cx="7585551" cy="10591146"/>
          </a:xfrm>
          <a:custGeom>
            <a:avLst/>
            <a:gdLst/>
            <a:ahLst/>
            <a:cxnLst/>
            <a:rect r="r" b="b" t="t" l="l"/>
            <a:pathLst>
              <a:path h="10591146" w="7585551">
                <a:moveTo>
                  <a:pt x="0" y="0"/>
                </a:moveTo>
                <a:lnTo>
                  <a:pt x="7585551" y="0"/>
                </a:lnTo>
                <a:lnTo>
                  <a:pt x="7585551" y="10591146"/>
                </a:lnTo>
                <a:lnTo>
                  <a:pt x="0" y="10591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2013065" y="-883177"/>
            <a:ext cx="8197348" cy="11445354"/>
          </a:xfrm>
          <a:custGeom>
            <a:avLst/>
            <a:gdLst/>
            <a:ahLst/>
            <a:cxnLst/>
            <a:rect r="r" b="b" t="t" l="l"/>
            <a:pathLst>
              <a:path h="11445354" w="8197348">
                <a:moveTo>
                  <a:pt x="8197348" y="11445354"/>
                </a:moveTo>
                <a:lnTo>
                  <a:pt x="0" y="11445354"/>
                </a:lnTo>
                <a:lnTo>
                  <a:pt x="0" y="0"/>
                </a:lnTo>
                <a:lnTo>
                  <a:pt x="8197348" y="0"/>
                </a:lnTo>
                <a:lnTo>
                  <a:pt x="8197348" y="11445354"/>
                </a:lnTo>
                <a:close/>
              </a:path>
            </a:pathLst>
          </a:custGeom>
          <a:blipFill>
            <a:blip r:embed="rId4">
              <a:alphaModFix amt="21999"/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2635029">
            <a:off x="1652057" y="1591183"/>
            <a:ext cx="16031035" cy="8260891"/>
          </a:xfrm>
          <a:custGeom>
            <a:avLst/>
            <a:gdLst/>
            <a:ahLst/>
            <a:cxnLst/>
            <a:rect r="r" b="b" t="t" l="l"/>
            <a:pathLst>
              <a:path h="8260891" w="16031035">
                <a:moveTo>
                  <a:pt x="0" y="0"/>
                </a:moveTo>
                <a:lnTo>
                  <a:pt x="16031035" y="0"/>
                </a:lnTo>
                <a:lnTo>
                  <a:pt x="16031035" y="8260890"/>
                </a:lnTo>
                <a:lnTo>
                  <a:pt x="0" y="82608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58345" y="-385206"/>
            <a:ext cx="6365535" cy="8887729"/>
          </a:xfrm>
          <a:custGeom>
            <a:avLst/>
            <a:gdLst/>
            <a:ahLst/>
            <a:cxnLst/>
            <a:rect r="r" b="b" t="t" l="l"/>
            <a:pathLst>
              <a:path h="8887729" w="6365535">
                <a:moveTo>
                  <a:pt x="6365535" y="8887729"/>
                </a:moveTo>
                <a:lnTo>
                  <a:pt x="0" y="8887729"/>
                </a:lnTo>
                <a:lnTo>
                  <a:pt x="0" y="0"/>
                </a:lnTo>
                <a:lnTo>
                  <a:pt x="6365535" y="0"/>
                </a:lnTo>
                <a:lnTo>
                  <a:pt x="6365535" y="8887729"/>
                </a:lnTo>
                <a:close/>
              </a:path>
            </a:pathLst>
          </a:custGeom>
          <a:blipFill>
            <a:blip r:embed="rId4">
              <a:alphaModFix amt="5000"/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203783" y="9267825"/>
            <a:ext cx="882266" cy="882266"/>
          </a:xfrm>
          <a:custGeom>
            <a:avLst/>
            <a:gdLst/>
            <a:ahLst/>
            <a:cxnLst/>
            <a:rect r="r" b="b" t="t" l="l"/>
            <a:pathLst>
              <a:path h="882266" w="882266">
                <a:moveTo>
                  <a:pt x="0" y="0"/>
                </a:moveTo>
                <a:lnTo>
                  <a:pt x="882265" y="0"/>
                </a:lnTo>
                <a:lnTo>
                  <a:pt x="882265" y="882266"/>
                </a:lnTo>
                <a:lnTo>
                  <a:pt x="0" y="8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1043361" y="1664019"/>
            <a:ext cx="16506077" cy="0"/>
          </a:xfrm>
          <a:prstGeom prst="line">
            <a:avLst/>
          </a:prstGeom>
          <a:ln cap="flat" w="38100">
            <a:solidFill>
              <a:srgbClr val="EFC9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9" id="9"/>
          <p:cNvSpPr txBox="true"/>
          <p:nvPr/>
        </p:nvSpPr>
        <p:spPr>
          <a:xfrm rot="0">
            <a:off x="1043361" y="1000125"/>
            <a:ext cx="14238176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00"/>
              </a:lnSpc>
              <a:spcBef>
                <a:spcPct val="0"/>
              </a:spcBef>
            </a:pPr>
            <a:r>
              <a:rPr lang="en-US" sz="6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Questions?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43361" y="2001436"/>
            <a:ext cx="1650607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Add citations, names, and emails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DAHJnAkQQpo</dc:identifier>
  <dcterms:modified xsi:type="dcterms:W3CDTF">2011-08-01T06:04:30Z</dcterms:modified>
  <cp:revision>1</cp:revision>
  <dc:title>Prediction Markets OQG Research Presentation</dc:title>
</cp:coreProperties>
</file>