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71" r:id="rId29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imes New Roman MT Bold" charset="1" panose="02030802070405020303"/>
      <p:regular r:id="rId21"/>
    </p:embeddedFont>
    <p:embeddedFont>
      <p:font typeface="Times New Roman MT Bold Italics" charset="1" panose="02030802070405090303"/>
      <p:regular r:id="rId22"/>
    </p:embeddedFont>
    <p:embeddedFont>
      <p:font typeface="Times New Roman MT" charset="1" panose="02030502070405020303"/>
      <p:regular r:id="rId23"/>
    </p:embeddedFont>
    <p:embeddedFont>
      <p:font typeface="Times New Roman MT Italics" charset="1" panose="020305020704050903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notesMaster" Target="notesMasters/notesMaster1.xml"/><Relationship Id="rId25" Type="http://schemas.openxmlformats.org/officeDocument/2006/relationships/theme" Target="theme/theme2.xml"/><Relationship Id="rId26" Type="http://schemas.openxmlformats.org/officeDocument/2006/relationships/notesSlide" Target="notesSlides/notesSlide1.xml"/><Relationship Id="rId27" Type="http://schemas.openxmlformats.org/officeDocument/2006/relationships/notesSlide" Target="notesSlides/notesSlide2.xml"/><Relationship Id="rId28" Type="http://schemas.openxmlformats.org/officeDocument/2006/relationships/font" Target="fonts/font28.fntdata"/><Relationship Id="rId29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binary contract pays $1 if the event happens and $0 if it doesn't. The contract's current trading price is therefore the market's implied probability of that outcome. A contract trading at $0.62 means the market collectively estimates a 62% chance the event resolves YES.</a:t>
            </a:r>
          </a:p>
          <a:p>
            <a:r>
              <a:rPr lang="en-US"/>
              <a:t>Participants buy and sell these contracts with real capital. Traders who price events accurately profit; those who don't lose money. Prices update continuously as new information arrives and as traders react.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Dataset:</a:t>
            </a:r>
          </a:p>
          <a:p>
            <a:r>
              <a:rPr lang="en-US"/>
              <a:t>Sourced from Kalshi’s Trade API </a:t>
            </a:r>
          </a:p>
          <a:p>
            <a:r>
              <a:rPr lang="en-US"/>
              <a:t>Collected over a six-week opportunistic window</a:t>
            </a:r>
          </a:p>
          <a:p>
            <a:r>
              <a:rPr lang="en-US"/>
              <a:t>Covers ~2,200 BTC contracts </a:t>
            </a:r>
          </a:p>
          <a:p>
            <a:r>
              <a:rPr lang="en-US"/>
              <a:t>Drop contracts with &lt;15 observations, unresolved, or zero-volume</a:t>
            </a:r>
          </a:p>
          <a:p>
            <a:r>
              <a:rPr lang="en-US"/>
              <a:t/>
            </a:r>
          </a:p>
          <a:p>
            <a:r>
              <a:rPr lang="en-US"/>
              <a:t>Fields logged per minute</a:t>
            </a:r>
          </a:p>
          <a:p>
            <a:r>
              <a:rPr lang="en-US"/>
              <a:t>P(UP), P(DOWN)</a:t>
            </a:r>
          </a:p>
          <a:p>
            <a:r>
              <a:rPr lang="en-US"/>
              <a:t>Momentum - ΔP(UP) from prior minute</a:t>
            </a:r>
          </a:p>
          <a:p>
            <a:r>
              <a:rPr lang="en-US"/>
              <a:t>Majority prediction</a:t>
            </a:r>
          </a:p>
          <a:p>
            <a:r>
              <a:rPr lang="en-US"/>
              <a:t>Market ticker &amp; timestamp</a:t>
            </a:r>
          </a:p>
          <a:p>
            <a:r>
              <a:rPr lang="en-US"/>
              <a:t>Final outcome and volume (post-resolution)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20.png"/><Relationship Id="rId11" Type="http://schemas.openxmlformats.org/officeDocument/2006/relationships/image" Target="../media/image23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hyperlink" Target="https://doi.org/10.1162/rest.90.3.414" TargetMode="External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hyperlink" Target="https://doi.org/10.1093/rfs/1.1.41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9.png"/><Relationship Id="rId9" Type="http://schemas.openxmlformats.org/officeDocument/2006/relationships/hyperlink" Target="https://doi.org/10.2307/2531595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hyperlink" Target="https://doi.org/10.1257/0895330041371321" TargetMode="External"/><Relationship Id="rId9" Type="http://schemas.openxmlformats.org/officeDocument/2006/relationships/hyperlink" Target="https://doi.org/10.1162/rest.90.3.414" TargetMode="External"/><Relationship Id="rId10" Type="http://schemas.openxmlformats.org/officeDocument/2006/relationships/hyperlink" Target="https://doi.org/10.1093/rfs/1.1.41" TargetMode="External"/><Relationship Id="rId11" Type="http://schemas.openxmlformats.org/officeDocument/2006/relationships/hyperlink" Target="https://doi.org/10.2307/2531595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702889" y="-1720776"/>
            <a:ext cx="9461951" cy="13211026"/>
          </a:xfrm>
          <a:custGeom>
            <a:avLst/>
            <a:gdLst/>
            <a:ahLst/>
            <a:cxnLst/>
            <a:rect r="r" b="b" t="t" l="l"/>
            <a:pathLst>
              <a:path h="13211026" w="9461951">
                <a:moveTo>
                  <a:pt x="9461952" y="13211027"/>
                </a:moveTo>
                <a:lnTo>
                  <a:pt x="0" y="13211027"/>
                </a:lnTo>
                <a:lnTo>
                  <a:pt x="0" y="0"/>
                </a:lnTo>
                <a:lnTo>
                  <a:pt x="9461952" y="0"/>
                </a:lnTo>
                <a:lnTo>
                  <a:pt x="9461952" y="13211027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68024" y="-304146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303249" y="1585275"/>
            <a:ext cx="13681501" cy="7116449"/>
            <a:chOff x="0" y="0"/>
            <a:chExt cx="18242001" cy="948859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42900"/>
              <a:ext cx="18242001" cy="8232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99"/>
                </a:lnSpc>
              </a:pPr>
              <a:r>
                <a:rPr lang="en-US" sz="9000" b="true">
                  <a:solidFill>
                    <a:srgbClr val="EFC9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Prediction Markets Probabilties as a Quant Data Source</a:t>
              </a:r>
            </a:p>
            <a:p>
              <a:pPr algn="ctr">
                <a:lnSpc>
                  <a:spcPts val="5039"/>
                </a:lnSpc>
              </a:pPr>
              <a:r>
                <a:rPr lang="en-US" b="true" sz="3599" i="true">
                  <a:solidFill>
                    <a:srgbClr val="FFFFFF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Characterizing Kalshi 15-minute BTC Contracts</a:t>
              </a:r>
            </a:p>
            <a:p>
              <a:pPr algn="ctr">
                <a:lnSpc>
                  <a:spcPts val="503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813257"/>
              <a:ext cx="18242001" cy="1675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3F3F3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Project Lead: Xavier Vortigern</a:t>
              </a:r>
            </a:p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3F3F3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Quantitative Developer: Zoe Tomlinson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2962" y="9045191"/>
            <a:ext cx="1981789" cy="57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5/27/26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Oregon Quant Group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842438" y="-1049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9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9" y="0"/>
                </a:lnTo>
                <a:lnTo>
                  <a:pt x="8197349" y="11445354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5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143994" y="6619541"/>
            <a:ext cx="2330153" cy="1882982"/>
          </a:xfrm>
          <a:custGeom>
            <a:avLst/>
            <a:gdLst/>
            <a:ahLst/>
            <a:cxnLst/>
            <a:rect r="r" b="b" t="t" l="l"/>
            <a:pathLst>
              <a:path h="1882982" w="2330153">
                <a:moveTo>
                  <a:pt x="0" y="0"/>
                </a:moveTo>
                <a:lnTo>
                  <a:pt x="2330153" y="0"/>
                </a:lnTo>
                <a:lnTo>
                  <a:pt x="2330153" y="1882982"/>
                </a:lnTo>
                <a:lnTo>
                  <a:pt x="0" y="18829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71" t="-13158" r="0" b="-1241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79355" y="3224158"/>
            <a:ext cx="4024428" cy="1919342"/>
          </a:xfrm>
          <a:custGeom>
            <a:avLst/>
            <a:gdLst/>
            <a:ahLst/>
            <a:cxnLst/>
            <a:rect r="r" b="b" t="t" l="l"/>
            <a:pathLst>
              <a:path h="1919342" w="4024428">
                <a:moveTo>
                  <a:pt x="0" y="0"/>
                </a:moveTo>
                <a:lnTo>
                  <a:pt x="4024428" y="0"/>
                </a:lnTo>
                <a:lnTo>
                  <a:pt x="4024428" y="1919342"/>
                </a:lnTo>
                <a:lnTo>
                  <a:pt x="0" y="19193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73886" y="5364223"/>
            <a:ext cx="4612163" cy="2927101"/>
          </a:xfrm>
          <a:custGeom>
            <a:avLst/>
            <a:gdLst/>
            <a:ahLst/>
            <a:cxnLst/>
            <a:rect r="r" b="b" t="t" l="l"/>
            <a:pathLst>
              <a:path h="2927101" w="4612163">
                <a:moveTo>
                  <a:pt x="0" y="0"/>
                </a:moveTo>
                <a:lnTo>
                  <a:pt x="4612162" y="0"/>
                </a:lnTo>
                <a:lnTo>
                  <a:pt x="4612162" y="2927102"/>
                </a:lnTo>
                <a:lnTo>
                  <a:pt x="0" y="29271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 are Prediction Markets?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50208"/>
            <a:ext cx="15583769" cy="154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</a:t>
            </a:r>
            <a:r>
              <a:rPr lang="en-US" b="true" sz="4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rketplaces where participants trade contracts on the outcome of future events, aggregating beliefs into prices.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600903"/>
            <a:ext cx="11053384" cy="172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Binary Contracts, trading price reflects implied probability. A contract trading at $0.62 means that the market estimates a 62% chance that the event resolves to YES.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3575" y="5724525"/>
            <a:ext cx="10558382" cy="229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Contracts spanning politics, weather, economics, sports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Ex: Recession this year?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Will 2026 be the hottest year ever?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Will Elon win his case against OpenAI?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361" y="8388223"/>
            <a:ext cx="16506077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"Wisdom of the Crowd" — aggregati</a:t>
            </a: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 works best when participants are independent, diverse, and bear the cost of error (Surowiecki, 2004)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Prediction Markets as a Quant Signal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58452"/>
            <a:ext cx="9369251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Institutional Adoption has already begun to take place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5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&amp; Signals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810644"/>
            <a:ext cx="750845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Kalshi 15-min BTC Contracts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67575" y="1810644"/>
            <a:ext cx="6614835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Per-Contract Observation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622174"/>
            <a:ext cx="7910662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Binary contracts on whether BTC will end above or below a given spot price over the following 15-minute window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98283" y="2612649"/>
            <a:ext cx="8059627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 10 second intervals, compute the midpoint of best bid and ask price. These are averaged into 1-minute buckets, yielding a 15-point time series of P(UP) per contract.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3361" y="4875154"/>
            <a:ext cx="7766757" cy="397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</a:t>
            </a: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ourced from Kalshi’s Trade API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Collected over a six-week opportunistic window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Covers ~2,200 BTC contracts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Drop contracts with &lt;15 observations, unresolved, or zero-volume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88495" y="6229926"/>
            <a:ext cx="3556322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Figure here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826069" y="4266164"/>
            <a:ext cx="10635862" cy="5610417"/>
          </a:xfrm>
          <a:custGeom>
            <a:avLst/>
            <a:gdLst/>
            <a:ahLst/>
            <a:cxnLst/>
            <a:rect r="r" b="b" t="t" l="l"/>
            <a:pathLst>
              <a:path h="5610417" w="10635862">
                <a:moveTo>
                  <a:pt x="0" y="0"/>
                </a:moveTo>
                <a:lnTo>
                  <a:pt x="10635862" y="0"/>
                </a:lnTo>
                <a:lnTo>
                  <a:pt x="10635862" y="5610417"/>
                </a:lnTo>
                <a:lnTo>
                  <a:pt x="0" y="56104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Coinbase API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3361" y="1918024"/>
            <a:ext cx="14609862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Coinbase BTC 1-minute candles, public Exchange API at 60-second granularity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Window: 15 Feb to 28 Mar 2026, 58,948 bars matched to the Kalshi panel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Coinbase chosen over Binance, which had 45% zero-volume bars at this granularity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Joined to Kalshi by UTC minute timestamp: 31,658 matched minute-level observations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Probability Convergence Within Contracts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614025"/>
            <a:ext cx="5244755" cy="791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Majority prediction accuracy starts at 54% and rises monotonically to 94% by minute 14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As the contract nears expiry, BTC price has largely determined its final direction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Any predictive signal must be drawn from early-window data, otherwise we conflate convergence with information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14068" y="7566782"/>
            <a:ext cx="10765801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Figure 1 — BTC majority-prediction accuracy by minute within contract (n=2,264). Rises from 54% at open to 94% by minute 14 as the underlying price approaches resolution.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730105"/>
            <a:ext cx="568664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the Market Resolves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181381" y="2382747"/>
            <a:ext cx="10431176" cy="5124315"/>
          </a:xfrm>
          <a:custGeom>
            <a:avLst/>
            <a:gdLst/>
            <a:ahLst/>
            <a:cxnLst/>
            <a:rect r="r" b="b" t="t" l="l"/>
            <a:pathLst>
              <a:path h="5124315" w="10431176">
                <a:moveTo>
                  <a:pt x="0" y="0"/>
                </a:moveTo>
                <a:lnTo>
                  <a:pt x="10431176" y="0"/>
                </a:lnTo>
                <a:lnTo>
                  <a:pt x="10431176" y="5124315"/>
                </a:lnTo>
                <a:lnTo>
                  <a:pt x="0" y="51243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879115" y="2908982"/>
            <a:ext cx="9269894" cy="3837085"/>
          </a:xfrm>
          <a:custGeom>
            <a:avLst/>
            <a:gdLst/>
            <a:ahLst/>
            <a:cxnLst/>
            <a:rect r="r" b="b" t="t" l="l"/>
            <a:pathLst>
              <a:path h="3837085" w="9269894">
                <a:moveTo>
                  <a:pt x="0" y="0"/>
                </a:moveTo>
                <a:lnTo>
                  <a:pt x="9269894" y="0"/>
                </a:lnTo>
                <a:lnTo>
                  <a:pt x="9269894" y="3837085"/>
                </a:lnTo>
                <a:lnTo>
                  <a:pt x="0" y="38370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Intraday Variability in Realized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2600" y="4797933"/>
            <a:ext cx="5508768" cy="622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Implied accuracy is roughly flat at 55–56% across all hours.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Realized accuracy varies substantially — eight hours show an overconfidence gap exceeding 5 percentage points (red bars).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879115" y="7886255"/>
            <a:ext cx="10765801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Figure 1 — BTC majority-prediction accuracy by minute within contract (n=2,264). Rises from 54% at open to 94% by minute 14 as the underlying price approaches resolution.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94431" y="2062934"/>
            <a:ext cx="15499139" cy="5909047"/>
          </a:xfrm>
          <a:custGeom>
            <a:avLst/>
            <a:gdLst/>
            <a:ahLst/>
            <a:cxnLst/>
            <a:rect r="r" b="b" t="t" l="l"/>
            <a:pathLst>
              <a:path h="5909047" w="15499139">
                <a:moveTo>
                  <a:pt x="0" y="0"/>
                </a:moveTo>
                <a:lnTo>
                  <a:pt x="15499138" y="0"/>
                </a:lnTo>
                <a:lnTo>
                  <a:pt x="15499138" y="5909046"/>
                </a:lnTo>
                <a:lnTo>
                  <a:pt x="0" y="59090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Intraday Variability in Realized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4431" y="8229155"/>
            <a:ext cx="17497012" cy="341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Implied accuracy is roughly flat at 55–56% across all hours.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Realized accuracy varies substantially — eight hours show an overconfidence gap exceeding 5 percentage points (red bars).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2525830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11819230" y="-70956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5"/>
                </a:moveTo>
                <a:lnTo>
                  <a:pt x="0" y="11445355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5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sz="4400" b="1">
                <a:solidFill>
                  <a:srgbClr val="FFFFFF"/>
                </a:solidFill>
                <a:latin typeface="Times New Roman MT"/>
              </a:rPr>
              <a:t>Testing the Signal Against the Underlying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6586" y="5597803"/>
            <a:ext cx="5587749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Times New Roman MT"/>
              </a:rPr>
              <a:t>Xavi:  signal development on the Kalshi panel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Times New Roman MT"/>
              </a:rPr>
              <a:t>Me:  testing whether that signal carries information above the asset it predicts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Times New Roman MT"/>
              </a:rPr>
              <a:t>Every Kalshi contract resolves on BTC spot — the natural benchmark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Times New Roman MT"/>
              </a:rPr>
              <a:t>Question:  does Kalshi P(UP) add directional information above the spot tape?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Times New Roman MT"/>
              </a:rPr>
              <a:t>Three diagnostics ahead:  lead-lag, variance ratio, incremental information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37574" y="3763383"/>
            <a:ext cx="493427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sz="1400">
                <a:solidFill>
                  <a:srgbClr val="FFFFFF"/>
                </a:solidFill>
                <a:latin typeface="Times New Roman MT"/>
              </a:rPr>
              <a:t>Coinbase BTC 1-min spot joined to Kalshi by UTC minute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3796" y="1974369"/>
            <a:ext cx="7129986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sz="1200">
                <a:solidFill>
                  <a:srgbClr val="FFFFFF"/>
                </a:solidFill>
                <a:latin typeface="Times New Roman MT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279169"/>
            <a:ext cx="53035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sz="2200" b="1">
                <a:solidFill>
                  <a:srgbClr val="EFC930"/>
                </a:solidFill>
                <a:latin typeface="Times New Roman MT"/>
              </a:rPr>
              <a:t>Section roadmap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023360"/>
            <a:ext cx="111556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ethods_diagram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12280" y="4160520"/>
            <a:ext cx="10881360" cy="38093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25830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11819230" y="-70956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5"/>
                </a:moveTo>
                <a:lnTo>
                  <a:pt x="0" y="11445355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5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655335" y="4583736"/>
            <a:ext cx="10894104" cy="4452965"/>
          </a:xfrm>
          <a:custGeom>
            <a:avLst/>
            <a:gdLst/>
            <a:ahLst/>
            <a:cxnLst/>
            <a:rect r="r" b="b" t="t" l="l"/>
            <a:pathLst>
              <a:path h="4452965" w="10894104">
                <a:moveTo>
                  <a:pt x="0" y="0"/>
                </a:moveTo>
                <a:lnTo>
                  <a:pt x="10894104" y="0"/>
                </a:lnTo>
                <a:lnTo>
                  <a:pt x="10894104" y="4452965"/>
                </a:lnTo>
                <a:lnTo>
                  <a:pt x="0" y="44529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Spot Leads P(UP) by Two Minutes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6586" y="5597803"/>
            <a:ext cx="5587749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Peak at lag k = −2: r = +0.510 BTC, +0.474 ETH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Contemporaneous correlation (k = 0) is statistically zero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Every PM-leading lag (k ≥ 0) is zero or negative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37574" y="3763383"/>
            <a:ext cx="493427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for k ∈ [−10, +10] minutes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3796" y="1974369"/>
            <a:ext cx="7129986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Pearson correlation at minute lag k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Positive k: PM leads spot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Negative k: spot leads PM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Cluster bootstrap CIs over 2,264 contracts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279169"/>
            <a:ext cx="53035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Lead-Lag Correlogram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875520"/>
            <a:ext cx="1737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FFFF"/>
                </a:solidFill>
                <a:latin typeface="Times New Roman MT"/>
                <a:hlinkClick r:id="rId10"/>
              </a:rPr>
              <a:t>Cameron, Gelbach &amp; Miller (2008).  Bootstrap-based improvements for inference with clustered errors.  doi.org/10.1162/rest.90.3.414</a:t>
            </a:r>
          </a:p>
        </p:txBody>
      </p:sp>
      <p:pic>
        <p:nvPicPr>
          <p:cNvPr id="17" name="Picture 16" descr="pm_spot_lead_la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0" y="27432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P(UP) Deviates from the Martingale Null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0839" y="5019675"/>
            <a:ext cx="6430542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Spot VR(q) within 1% of 1.00 at every horizon; Hurst H = 0.498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P(UP): VR(2) = 1.24, VR(10) = 1.41; Hurst H = 0.537 (CI excludes 0.5)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P(UP) under-reacts to its own information at the 1 to 10 minute horizon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81381" y="5309876"/>
            <a:ext cx="10111862" cy="4161257"/>
            <a:chOff x="0" y="0"/>
            <a:chExt cx="17068800" cy="7024192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7068800" cy="7024243"/>
            </a:xfrm>
            <a:custGeom>
              <a:avLst/>
              <a:gdLst/>
              <a:ahLst/>
              <a:cxnLst/>
              <a:rect r="r" b="b" t="t" l="l"/>
              <a:pathLst>
                <a:path h="7024243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024243"/>
                  </a:lnTo>
                  <a:lnTo>
                    <a:pt x="0" y="702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2" t="0" r="-6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180647" y="3973617"/>
            <a:ext cx="4492582" cy="95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sz="2920">
                <a:solidFill>
                  <a:srgbClr val="FFFFFF"/>
                </a:solidFill>
                <a:latin typeface="Times New Roman MT Italics"/>
              </a:rPr>
              <a:t>Null:  VR(q) = 1 at every horizon q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40986" y="2228006"/>
            <a:ext cx="650393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92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Inputs: P(UP) changes, log spot returns</a:t>
            </a:r>
          </a:p>
          <a:p>
            <a:pPr algn="l">
              <a:lnSpc>
                <a:spcPts val="3505"/>
              </a:lnSpc>
            </a:pPr>
            <a:r>
              <a:rPr lang="en-US" sz="292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VR &gt; 1: positive serial correlation (under-reaction)</a:t>
            </a:r>
          </a:p>
          <a:p>
            <a:pPr algn="l">
              <a:lnSpc>
                <a:spcPts val="3505"/>
              </a:lnSpc>
            </a:pPr>
            <a:r>
              <a:rPr lang="en-US" sz="292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Hurst H from slope of log VR(q) vs log q</a:t>
            </a:r>
          </a:p>
          <a:p>
            <a:pPr algn="l">
              <a:lnSpc>
                <a:spcPts val="3505"/>
              </a:lnSpc>
            </a:pPr>
            <a:r>
              <a:rPr lang="en-US" sz="292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 ∈ {2, 3, 5, 7, 10} minutes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837" y="2285647"/>
            <a:ext cx="5666386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3"/>
              </a:lnSpc>
            </a:pPr>
            <a:r>
              <a:rPr lang="en-US" sz="3894" b="true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Variance Ratio 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(Lo and MacKinlay 1988)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53691" y="3361046"/>
            <a:ext cx="5391098" cy="1746173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076096" y="3953373"/>
            <a:ext cx="1263416" cy="561518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6121368" y="2344158"/>
            <a:ext cx="456710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Tests random-walk null on each series separately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9875520"/>
            <a:ext cx="1737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FFFF"/>
                </a:solidFill>
                <a:latin typeface="Times New Roman MT"/>
                <a:hlinkClick r:id="rId11"/>
              </a:rPr>
              <a:t>Lo &amp; MacKinlay (1988).  Stock market prices do not follow random walks.  doi.org/10.1093/rfs/1.1.41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32390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6" y="0"/>
                </a:lnTo>
                <a:lnTo>
                  <a:pt x="9813626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995774" y="4980651"/>
            <a:ext cx="10421568" cy="4298897"/>
          </a:xfrm>
          <a:custGeom>
            <a:avLst/>
            <a:gdLst/>
            <a:ahLst/>
            <a:cxnLst/>
            <a:rect r="r" b="b" t="t" l="l"/>
            <a:pathLst>
              <a:path h="4298897" w="10421568">
                <a:moveTo>
                  <a:pt x="0" y="0"/>
                </a:moveTo>
                <a:lnTo>
                  <a:pt x="10421568" y="0"/>
                </a:lnTo>
                <a:lnTo>
                  <a:pt x="10421568" y="4298897"/>
                </a:lnTo>
                <a:lnTo>
                  <a:pt x="0" y="42988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89775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Kalshi Features Add No Content Above Spot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1000" y="5290827"/>
            <a:ext cx="6000122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Spot-only AUC = 0.796 [0.78, 0.82] on 1,595 OOS contracts (73% accuracy)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PM-only AUC = 0.693; Combined AUC = 0.760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Adding PM degrades a spot-only model (DeLong p &lt; 0.001)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361" y="2808951"/>
            <a:ext cx="530352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sz="3000">
                <a:solidFill>
                  <a:srgbClr val="FFFFFF"/>
                </a:solidFill>
                <a:latin typeface="Times New Roman MT Italics"/>
              </a:rPr>
              <a:t>AUC:  Spot vs Kalshi vs Combined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3361" y="3732876"/>
            <a:ext cx="530352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5-fold time-series CV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DeLong p-values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01378" y="2123151"/>
            <a:ext cx="7810362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Logistic regression on 1,595 OOS contracts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Spot-only: 8 features (returns, vol, volume)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Kalshi-only: 11 features from the Kalshi panel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Combined: union, 19 features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Bootstrap 95% CIs on out-of-sample AUC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3361" y="2092525"/>
            <a:ext cx="53035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Incremental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875520"/>
            <a:ext cx="1737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FFFF"/>
                </a:solidFill>
                <a:latin typeface="Times New Roman MT"/>
                <a:hlinkClick r:id="rId9"/>
              </a:rPr>
              <a:t>DeLong, DeLong &amp; Clarke-Pearson (1988).  Comparing the areas under two or more correlated ROC curves.  doi.org/10.2307/2531595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Limitations &amp; Next Steps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Identification: Coinbase candle aggregation, scraper averaging, and substantive reaction confound the 2-min lag (bounded ≥ 1 min); tick-level spot would tighten the bound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Inference: cluster bootstrap by contract may understate dependence across overlapping contracts; calendar-time block bootstrap would be more conservative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Generalizability: six-week sample is one regime; replication during stress events (CPI releases, BTC-specific news shocks) is essential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Next: Hasbrouck (1995) information share in a VECM of Kalshi-implied price and spot; conviction spread vs HAR-RV and GARCH for realized volatility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591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Wolfers, J., and Zitzewitz, E.</a:t>
            </a: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(2004). Prediction markets. Journal of Economic Perspectives, 18(2), 107–126.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8"/>
              </a:rPr>
              <a:t>10.1257/0895330041371321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Cameron, A. C., Gelbach, J. B., and Miller, D. L. (2008). Bootstrap-based improvements for inference with clustered errors. Review of Economics and Statistics, 90(3), 414–427.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9"/>
              </a:rPr>
              <a:t>10.1162/rest.90.3.414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Lo, A. W., and MacKinlay, A. C. (1988). Stock market prices do not follow random walks: Evidence from a simple specification test. Review of Financial Studies, 1(1), 41–66.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10"/>
              </a:rPr>
              <a:t>10.1093/rfs/1.1.41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DeLong, E. R., DeLong, D. M., and Clarke-Pearson, D. L. (1988). Comparing the areas under two or more correlated receiver operating characteristic curves: A nonparametric approach. Biometrics, 44(3), 837–845.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11"/>
              </a:rPr>
              <a:t>10.2307/2531595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38681" y="-2328105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Questions?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Add citations, names, and emails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DAHJnAkQQpo</dc:identifier>
  <dcterms:modified xsi:type="dcterms:W3CDTF">2011-08-01T06:04:30Z</dcterms:modified>
  <cp:revision>1</cp:revision>
  <dc:title>Prediction Markets OQG Research Presentation</dc:title>
</cp:coreProperties>
</file>